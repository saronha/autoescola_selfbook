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98b8660-8942-b995-d982-52742fd7356c}">
          <p14:sldIdLst>
            <p14:sldId id="256"/>
            <p14:sldId id="257"/>
            <p14:sldId id="258"/>
          </p14:sldIdLst>
        </p14:section>
        <p14:section name="Navegação e layouts" id="{3ed787c5-b511-5bb5-769a-f37084fb8d2a}">
          <p14:sldIdLst>
            <p14:sldId id="259"/>
            <p14:sldId id="260"/>
            <p14:sldId id="261"/>
            <p14:sldId id="262"/>
          </p14:sldIdLst>
        </p14:section>
        <p14:section name="Protótipo" id="{fe252eba-9119-09e1-34a7-6241d5cf5342}">
          <p14:sldIdLst>
            <p14:sldId id="263"/>
            <p14:sldId id="264"/>
          </p14:sldIdLst>
        </p14:section>
        <p14:section name="Acessibilidade" id="{f59611ac-da90-14e2-4d74-fe7df043a465}">
          <p14:sldIdLst>
            <p14:sldId id="265"/>
            <p14:sldId id="266"/>
            <p14:sldId id="267"/>
          </p14:sldIdLst>
        </p14:section>
        <p14:section name="Planeamento" id="{5f1e4f52-7fef-d0e2-0165-da4189a9f63d}">
          <p14:sldIdLst>
            <p14:sldId id="268"/>
          </p14:sldIdLst>
        </p14:section>
        <p14:section name="Fecho" id="{67b4cd1d-62f4-4594-36ff-c2aa8402295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entrega E2. Apresentamos o Sinal Verde: um sistema para marcar aulas de condução. Esta entrega cobre os cinco componentes pedidos: mapa de navegação, wireframes, protótipo clicável, acessibilidade e responsividade, e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cinco componentes da E2. Nas próximas slides mostramos cada um, pela mesma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Respondemos às três perguntas da proposta. Dois perfis: aluno e gerente. O custo atual está na recepcionista, que verifica a disponibilidade dos instrutores dia a dia e comunica ao aluno, ou o inverso.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seta do mapa é uma ligação que o protótipo tem. Colunas: entrada, painel, menu, detalhe e ação. As ações do aluno incluem marcar e desmarcar aulas; as do gerente, adicionar instrutores e alterar horários.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a preto e branco, sem imagens: o foco é a estrutura. Barra lateral com perfil e percurso do aluno (10 de 16 aulas) e área principal com o conteúdo de cada ecrã.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de confirmação em dois passos: primeiro o pop-up de confirmação, depois a mensagem de sucesso. Uma ação principal por ecrã.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do gerente tem duas entradas de menu: gerir horários e ver instrutores, como no mapa de navegação.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fluxos principais percorridos do início ao fim, sem código por parte de quem testa. O protótipo é o site Sinal Verde com dados de demonstração em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pede casos de erro e listas vazias no protótipo. Estes são os estados que já estão desenhados, com as mensagens que o aluno vê.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Pares de cor testados contra WCAG AA sobre fundo branco. Amarelo, verde vivo e vermelho servem só de acento em barras, chips e avisos. Cada instrutor tem um tom escuro próprio, todos acima de 5:1.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Tipografia legível e tudo operável por teclado. Os erros usam role alert para serem lidos por leitores de ecrã.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tamanhos de ecrã. A partir dos 700 px a barra lateral desaparece e o menu passa a hambúrguer. O calendário mantém um mínimo de 680 px e rola na horizontal em vez de esmagar as células.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cronograma nasce na E2 e é atualizado a cada entrega. As datas de entrega não mudam: E3 a 5 de novembro, E4 a 19 de novembro, E5 a 10 de dezembro, E6 a 5 de janeiro.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Fecho: o que ainda queremos melhorar na acessibilidade e o calendário das próximas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17D"/>
                </a:solidFill>
              </a:rPr>
              <a:t>Sinal Verde · E2 Layouts · Projeto de TPSI 2026/2027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12D37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212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212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E2 · Layouts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Verde: marcação de aulas numa escola de condução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TPSI · 2026/2027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EB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 22 de outubro · 15% da nota do projeto</a:t>
            </a:r>
            <a:endParaRPr lang="en-US" sz="1400" dirty="0"/>
          </a:p>
        </p:txBody>
      </p:sp>
      <p:sp>
        <p:nvSpPr>
          <p:cNvPr id="5" name="Semáforo"/>
          <p:cNvSpPr/>
          <p:nvPr/>
        </p:nvSpPr>
        <p:spPr>
          <a:xfrm>
            <a:off x="6720840" y="868680"/>
            <a:ext cx="1371600" cy="3383280"/>
          </a:xfrm>
          <a:prstGeom prst="roundRect">
            <a:avLst>
              <a:gd name="adj" fmla="val 23333"/>
            </a:avLst>
          </a:prstGeom>
          <a:solidFill>
            <a:srgbClr val="0F161C"/>
          </a:solidFill>
          <a:ln w="19050">
            <a:solidFill>
              <a:srgbClr val="3A4A57"/>
            </a:solidFill>
            <a:prstDash val="solid"/>
          </a:ln>
        </p:spPr>
      </p:sp>
      <p:sp>
        <p:nvSpPr>
          <p:cNvPr id="6" name="Luz 1"/>
          <p:cNvSpPr/>
          <p:nvPr/>
        </p:nvSpPr>
        <p:spPr>
          <a:xfrm>
            <a:off x="7040880" y="1188720"/>
            <a:ext cx="731520" cy="731520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7" name="Luz 2"/>
          <p:cNvSpPr/>
          <p:nvPr/>
        </p:nvSpPr>
        <p:spPr>
          <a:xfrm>
            <a:off x="7040880" y="2194560"/>
            <a:ext cx="731520" cy="731520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8" name="Luz 3"/>
          <p:cNvSpPr/>
          <p:nvPr/>
        </p:nvSpPr>
        <p:spPr>
          <a:xfrm>
            <a:off x="7040880" y="3200400"/>
            <a:ext cx="731520" cy="731520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O que entregamos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Linha 1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7" name="Número 1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8872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navegação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1887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ecrãs e ligações, por perfil</a:t>
            </a:r>
            <a:endParaRPr lang="en-US" sz="1400" dirty="0"/>
          </a:p>
        </p:txBody>
      </p:sp>
      <p:sp>
        <p:nvSpPr>
          <p:cNvPr id="11" name="Etiqueta 1"/>
          <p:cNvSpPr/>
          <p:nvPr/>
        </p:nvSpPr>
        <p:spPr>
          <a:xfrm>
            <a:off x="7543800" y="13441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1344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200" dirty="0"/>
          </a:p>
        </p:txBody>
      </p:sp>
      <p:sp>
        <p:nvSpPr>
          <p:cNvPr id="13" name="Linha 2"/>
          <p:cNvSpPr/>
          <p:nvPr/>
        </p:nvSpPr>
        <p:spPr>
          <a:xfrm>
            <a:off x="457200" y="186537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4" name="Número 2"/>
          <p:cNvSpPr/>
          <p:nvPr/>
        </p:nvSpPr>
        <p:spPr>
          <a:xfrm>
            <a:off x="594360" y="1975104"/>
            <a:ext cx="384048" cy="384048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18653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18653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ecrã principal, a preto e branco</a:t>
            </a:r>
            <a:endParaRPr lang="en-US" sz="1400" dirty="0"/>
          </a:p>
        </p:txBody>
      </p:sp>
      <p:sp>
        <p:nvSpPr>
          <p:cNvPr id="18" name="Etiqueta 2"/>
          <p:cNvSpPr/>
          <p:nvPr/>
        </p:nvSpPr>
        <p:spPr>
          <a:xfrm>
            <a:off x="7543800" y="20208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2020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0" name="Linha 3"/>
          <p:cNvSpPr/>
          <p:nvPr/>
        </p:nvSpPr>
        <p:spPr>
          <a:xfrm>
            <a:off x="457200" y="254203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1" name="Número 3"/>
          <p:cNvSpPr/>
          <p:nvPr/>
        </p:nvSpPr>
        <p:spPr>
          <a:xfrm>
            <a:off x="594360" y="2651760"/>
            <a:ext cx="384048" cy="384048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25420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clicável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25420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principais, do início ao fim</a:t>
            </a:r>
            <a:endParaRPr lang="en-US" sz="1400" dirty="0"/>
          </a:p>
        </p:txBody>
      </p:sp>
      <p:sp>
        <p:nvSpPr>
          <p:cNvPr id="25" name="Etiqueta 3"/>
          <p:cNvSpPr/>
          <p:nvPr/>
        </p:nvSpPr>
        <p:spPr>
          <a:xfrm>
            <a:off x="7543800" y="26974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3800" y="2697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200" dirty="0"/>
          </a:p>
        </p:txBody>
      </p:sp>
      <p:sp>
        <p:nvSpPr>
          <p:cNvPr id="27" name="Linha 4"/>
          <p:cNvSpPr/>
          <p:nvPr/>
        </p:nvSpPr>
        <p:spPr>
          <a:xfrm>
            <a:off x="457200" y="321868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8" name="Número 4"/>
          <p:cNvSpPr/>
          <p:nvPr/>
        </p:nvSpPr>
        <p:spPr>
          <a:xfrm>
            <a:off x="594360" y="3328416"/>
            <a:ext cx="384048" cy="384048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32186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e responsividade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32186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Contraste, letra, teclado e ecrãs pequenos</a:t>
            </a:r>
            <a:endParaRPr lang="en-US" sz="1400" dirty="0"/>
          </a:p>
        </p:txBody>
      </p:sp>
      <p:sp>
        <p:nvSpPr>
          <p:cNvPr id="32" name="Etiqueta 4"/>
          <p:cNvSpPr/>
          <p:nvPr/>
        </p:nvSpPr>
        <p:spPr>
          <a:xfrm>
            <a:off x="7543800" y="337413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43800" y="33741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página</a:t>
            </a:r>
            <a:endParaRPr lang="en-US" sz="1200" dirty="0"/>
          </a:p>
        </p:txBody>
      </p:sp>
      <p:sp>
        <p:nvSpPr>
          <p:cNvPr id="34" name="Linha 5"/>
          <p:cNvSpPr/>
          <p:nvPr/>
        </p:nvSpPr>
        <p:spPr>
          <a:xfrm>
            <a:off x="457200" y="389534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35" name="Número 5"/>
          <p:cNvSpPr/>
          <p:nvPr/>
        </p:nvSpPr>
        <p:spPr>
          <a:xfrm>
            <a:off x="594360" y="4005072"/>
            <a:ext cx="384048" cy="384048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38953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206240" y="38953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de E3 a E6, com datas e responsáveis</a:t>
            </a:r>
            <a:endParaRPr lang="en-US" sz="1400" dirty="0"/>
          </a:p>
        </p:txBody>
      </p:sp>
      <p:sp>
        <p:nvSpPr>
          <p:cNvPr id="39" name="Etiqueta 5"/>
          <p:cNvSpPr/>
          <p:nvPr/>
        </p:nvSpPr>
        <p:spPr>
          <a:xfrm>
            <a:off x="7543800" y="4050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3800" y="4050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Quem usa e que problema tem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Cartão Quem usa?"/>
          <p:cNvSpPr/>
          <p:nvPr/>
        </p:nvSpPr>
        <p:spPr>
          <a:xfrm>
            <a:off x="457200" y="1188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7" name="Ícone Quem usa? (fundo)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pic>
        <p:nvPicPr>
          <p:cNvPr id="8" name="Image 0" descr="Ícone Quem usa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116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Aluno: marca e desmarca as suas aulas práticas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da escola: gere instrutores e horários</a:t>
            </a:r>
            <a:endParaRPr lang="en-US" sz="1400" dirty="0"/>
          </a:p>
        </p:txBody>
      </p:sp>
      <p:sp>
        <p:nvSpPr>
          <p:cNvPr id="11" name="Cartão O que quer fazer?"/>
          <p:cNvSpPr/>
          <p:nvPr/>
        </p:nvSpPr>
        <p:spPr>
          <a:xfrm>
            <a:off x="3268980" y="1188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2" name="Ícone O que quer fazer? (fundo)"/>
          <p:cNvSpPr/>
          <p:nvPr/>
        </p:nvSpPr>
        <p:spPr>
          <a:xfrm>
            <a:off x="3451860" y="1325880"/>
            <a:ext cx="502920" cy="502920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pic>
        <p:nvPicPr>
          <p:cNvPr id="13" name="Image 1" descr="Ícone O que quer fazer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4516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9194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 fazer?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451860" y="20116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disponibilidade de todos os instrutores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sem intermediário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turnos e pausas</a:t>
            </a:r>
            <a:endParaRPr lang="en-US" sz="1400" dirty="0"/>
          </a:p>
        </p:txBody>
      </p:sp>
      <p:sp>
        <p:nvSpPr>
          <p:cNvPr id="16" name="Cartão Onde perde tempo?"/>
          <p:cNvSpPr/>
          <p:nvPr/>
        </p:nvSpPr>
        <p:spPr>
          <a:xfrm>
            <a:off x="6080760" y="11887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7" name="Ícone Onde perde tempo? (fundo)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pic>
        <p:nvPicPr>
          <p:cNvPr id="18" name="Image 2" descr="Ícone Onde perde tempo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14516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perde tempo?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0116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recepcionista verifica a disponibilidade dia a dia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ao aluno, ou o inverso</a:t>
            </a:r>
            <a:endParaRPr lang="en-US" sz="1400" dirty="0"/>
          </a:p>
        </p:txBody>
      </p:sp>
      <p:sp>
        <p:nvSpPr>
          <p:cNvPr id="21" name="Resumo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12D37"/>
          </a:solidFill>
          <a:ln w="6350">
            <a:solidFill>
              <a:srgbClr val="212D3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C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recepcionista cruza horários dia a dia.  </a:t>
            </a:r>
            <a:pPr indent="0" marL="0">
              <a:buNone/>
            </a:pPr>
            <a:r>
              <a:rPr lang="en-US" sz="1500" b="1" dirty="0">
                <a:solidFill>
                  <a:srgbClr val="FCC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Sinal Verde: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vê os horários e marca sozinho.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Mapa de navegação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Moldura Mapa de navegação com os painéis do aluno e do gerente"/>
          <p:cNvSpPr/>
          <p:nvPr/>
        </p:nvSpPr>
        <p:spPr>
          <a:xfrm>
            <a:off x="516794" y="1152144"/>
            <a:ext cx="5275773" cy="350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7" name="Image 0" descr="Mapa de navegação com os painéis do aluno e do ge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370" y="1188720"/>
            <a:ext cx="5202621" cy="3429000"/>
          </a:xfrm>
          <a:prstGeom prst="rect">
            <a:avLst/>
          </a:prstGeom>
        </p:spPr>
      </p:pic>
      <p:sp>
        <p:nvSpPr>
          <p:cNvPr id="8" name="Nota 1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6364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início, dois painéis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e o gerente entram pelo mesmo ecrã.</a:t>
            </a:r>
            <a:endParaRPr lang="en-US" sz="1200" dirty="0"/>
          </a:p>
        </p:txBody>
      </p:sp>
      <p:sp>
        <p:nvSpPr>
          <p:cNvPr id="11" name="Nota 2"/>
          <p:cNvSpPr/>
          <p:nvPr/>
        </p:nvSpPr>
        <p:spPr>
          <a:xfrm>
            <a:off x="6126480" y="2359152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Aluno: três entradas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889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aluno, aulas marcadas e marcar aulas.</a:t>
            </a:r>
            <a:endParaRPr lang="en-US" sz="1200" dirty="0"/>
          </a:p>
        </p:txBody>
      </p:sp>
      <p:sp>
        <p:nvSpPr>
          <p:cNvPr id="14" name="Nota 3"/>
          <p:cNvSpPr/>
          <p:nvPr/>
        </p:nvSpPr>
        <p:spPr>
          <a:xfrm>
            <a:off x="6126480" y="3529584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36210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Gerente: três entradas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40599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gerente, ver instrutores e gerir horários.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Wireframes do aluno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Moldura Wireframe: Início de sessão"/>
          <p:cNvSpPr/>
          <p:nvPr/>
        </p:nvSpPr>
        <p:spPr>
          <a:xfrm>
            <a:off x="420624" y="1152144"/>
            <a:ext cx="2679192" cy="182408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7" name="Image 0" descr="Wireframe: Início de sess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606040" cy="175093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 sessão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611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comum aos dois perfis</a:t>
            </a:r>
            <a:endParaRPr lang="en-US" sz="1400" dirty="0"/>
          </a:p>
        </p:txBody>
      </p:sp>
      <p:sp>
        <p:nvSpPr>
          <p:cNvPr id="10" name="Moldura Wireframe: Aulas marcadas"/>
          <p:cNvSpPr/>
          <p:nvPr/>
        </p:nvSpPr>
        <p:spPr>
          <a:xfrm>
            <a:off x="3232404" y="1152144"/>
            <a:ext cx="2679192" cy="184851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1" name="Image 1" descr="Wireframe: Aulas marc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188720"/>
            <a:ext cx="2606040" cy="17753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6898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marcadas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268980" y="3611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já marcadas, em calendário ou lista</a:t>
            </a:r>
            <a:endParaRPr lang="en-US" sz="1400" dirty="0"/>
          </a:p>
        </p:txBody>
      </p:sp>
      <p:sp>
        <p:nvSpPr>
          <p:cNvPr id="14" name="Moldura Wireframe: Marcar aulas"/>
          <p:cNvSpPr/>
          <p:nvPr/>
        </p:nvSpPr>
        <p:spPr>
          <a:xfrm>
            <a:off x="6044184" y="1152144"/>
            <a:ext cx="2679192" cy="184851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5" name="Image 2" descr="Wireframe: Marcar aul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88720"/>
            <a:ext cx="2606040" cy="17753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8076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aulas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080760" y="3611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do instrutor escolhido; máx. 4 aulas por 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Confirmar a marcação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Moldura Wireframe: pergunta de confirmação da aula"/>
          <p:cNvSpPr/>
          <p:nvPr/>
        </p:nvSpPr>
        <p:spPr>
          <a:xfrm>
            <a:off x="708786" y="1152144"/>
            <a:ext cx="342874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7" name="Image 0" descr="Wireframe: pergunta de confirmação da au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362" y="1188720"/>
            <a:ext cx="3355596" cy="2286000"/>
          </a:xfrm>
          <a:prstGeom prst="rect">
            <a:avLst/>
          </a:prstGeom>
        </p:spPr>
      </p:pic>
      <p:sp>
        <p:nvSpPr>
          <p:cNvPr id="8" name="Moldura Wireframe: aula marcada com sucesso"/>
          <p:cNvSpPr/>
          <p:nvPr/>
        </p:nvSpPr>
        <p:spPr>
          <a:xfrm>
            <a:off x="5006466" y="1152144"/>
            <a:ext cx="342874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9" name="Image 1" descr="Wireframe: aula marcada com suce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42" y="1188720"/>
            <a:ext cx="3355596" cy="2286000"/>
          </a:xfrm>
          <a:prstGeom prst="rect">
            <a:avLst/>
          </a:prstGeom>
        </p:spPr>
      </p:pic>
      <p:sp>
        <p:nvSpPr>
          <p:cNvPr id="10" name="Seta"/>
          <p:cNvSpPr/>
          <p:nvPr/>
        </p:nvSpPr>
        <p:spPr>
          <a:xfrm>
            <a:off x="4462272" y="2194560"/>
            <a:ext cx="219456" cy="274320"/>
          </a:xfrm>
          <a:prstGeom prst="rightArrow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Confirmar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e horário à vista, com o aviso de desmarcar com 24 h de antecedência.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Sucesso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aula marcada e um só botão: Fechar.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Wireframes do gerente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Moldura Wireframe: gerir horários"/>
          <p:cNvSpPr/>
          <p:nvPr/>
        </p:nvSpPr>
        <p:spPr>
          <a:xfrm>
            <a:off x="708786" y="1152144"/>
            <a:ext cx="342874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7" name="Image 0" descr="Wireframe: gerir horá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362" y="1188720"/>
            <a:ext cx="3355596" cy="2286000"/>
          </a:xfrm>
          <a:prstGeom prst="rect">
            <a:avLst/>
          </a:prstGeom>
        </p:spPr>
      </p:pic>
      <p:sp>
        <p:nvSpPr>
          <p:cNvPr id="8" name="Moldura Wireframe: ver instrutores"/>
          <p:cNvSpPr/>
          <p:nvPr/>
        </p:nvSpPr>
        <p:spPr>
          <a:xfrm>
            <a:off x="5006466" y="1152144"/>
            <a:ext cx="3428748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9" name="Image 1" descr="Wireframe: ver instrut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42" y="1188720"/>
            <a:ext cx="3355596" cy="2286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horários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semanal por instrutor; cada dia pode ser alterado.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instrutores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a informação dos instrutores e ação de adicionar.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Protótipo: fluxos clicáveis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 · O aluno marca uma aula</a:t>
            </a:r>
            <a:endParaRPr lang="en-US" sz="1400" dirty="0"/>
          </a:p>
        </p:txBody>
      </p:sp>
      <p:sp>
        <p:nvSpPr>
          <p:cNvPr id="7" name="Passo 1.1"/>
          <p:cNvSpPr/>
          <p:nvPr/>
        </p:nvSpPr>
        <p:spPr>
          <a:xfrm>
            <a:off x="457200" y="149047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212D37"/>
          </a:solidFill>
          <a:ln w="12700">
            <a:solidFill>
              <a:srgbClr val="212D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9047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 sessão</a:t>
            </a:r>
            <a:endParaRPr lang="en-US" sz="1300" dirty="0"/>
          </a:p>
        </p:txBody>
      </p:sp>
      <p:sp>
        <p:nvSpPr>
          <p:cNvPr id="9" name="Seta 1.1"/>
          <p:cNvSpPr/>
          <p:nvPr/>
        </p:nvSpPr>
        <p:spPr>
          <a:xfrm>
            <a:off x="1920240" y="169164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10" name="Passo 1.2"/>
          <p:cNvSpPr/>
          <p:nvPr/>
        </p:nvSpPr>
        <p:spPr>
          <a:xfrm>
            <a:off x="2157984" y="149047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03704" y="149047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aulas</a:t>
            </a:r>
            <a:endParaRPr lang="en-US" sz="1300" dirty="0"/>
          </a:p>
        </p:txBody>
      </p:sp>
      <p:sp>
        <p:nvSpPr>
          <p:cNvPr id="12" name="Seta 1.2"/>
          <p:cNvSpPr/>
          <p:nvPr/>
        </p:nvSpPr>
        <p:spPr>
          <a:xfrm>
            <a:off x="3621024" y="169164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13" name="Passo 1.3"/>
          <p:cNvSpPr/>
          <p:nvPr/>
        </p:nvSpPr>
        <p:spPr>
          <a:xfrm>
            <a:off x="3858768" y="149047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04488" y="149047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instrutor e horário</a:t>
            </a:r>
            <a:endParaRPr lang="en-US" sz="1300" dirty="0"/>
          </a:p>
        </p:txBody>
      </p:sp>
      <p:sp>
        <p:nvSpPr>
          <p:cNvPr id="15" name="Seta 1.3"/>
          <p:cNvSpPr/>
          <p:nvPr/>
        </p:nvSpPr>
        <p:spPr>
          <a:xfrm>
            <a:off x="5321808" y="169164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16" name="Passo 1.4"/>
          <p:cNvSpPr/>
          <p:nvPr/>
        </p:nvSpPr>
        <p:spPr>
          <a:xfrm>
            <a:off x="5559552" y="149047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49047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300" dirty="0"/>
          </a:p>
        </p:txBody>
      </p:sp>
      <p:sp>
        <p:nvSpPr>
          <p:cNvPr id="18" name="Seta 1.4"/>
          <p:cNvSpPr/>
          <p:nvPr/>
        </p:nvSpPr>
        <p:spPr>
          <a:xfrm>
            <a:off x="7022592" y="169164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19" name="Passo 1.5"/>
          <p:cNvSpPr/>
          <p:nvPr/>
        </p:nvSpPr>
        <p:spPr>
          <a:xfrm>
            <a:off x="7260336" y="149047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299236"/>
          </a:solidFill>
          <a:ln w="12700">
            <a:solidFill>
              <a:srgbClr val="2992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06056" y="149047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marcada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2 · O aluno desmarca uma aula</a:t>
            </a:r>
            <a:endParaRPr lang="en-US" sz="1400" dirty="0"/>
          </a:p>
        </p:txBody>
      </p:sp>
      <p:sp>
        <p:nvSpPr>
          <p:cNvPr id="22" name="Passo 2.1"/>
          <p:cNvSpPr/>
          <p:nvPr/>
        </p:nvSpPr>
        <p:spPr>
          <a:xfrm>
            <a:off x="457200" y="258775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212D37"/>
          </a:solidFill>
          <a:ln w="12700">
            <a:solidFill>
              <a:srgbClr val="212D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258775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marcadas</a:t>
            </a:r>
            <a:endParaRPr lang="en-US" sz="1300" dirty="0"/>
          </a:p>
        </p:txBody>
      </p:sp>
      <p:sp>
        <p:nvSpPr>
          <p:cNvPr id="24" name="Seta 2.1"/>
          <p:cNvSpPr/>
          <p:nvPr/>
        </p:nvSpPr>
        <p:spPr>
          <a:xfrm>
            <a:off x="1920240" y="278892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25" name="Passo 2.2"/>
          <p:cNvSpPr/>
          <p:nvPr/>
        </p:nvSpPr>
        <p:spPr>
          <a:xfrm>
            <a:off x="2157984" y="258775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03704" y="258775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da aula</a:t>
            </a:r>
            <a:endParaRPr lang="en-US" sz="1300" dirty="0"/>
          </a:p>
        </p:txBody>
      </p:sp>
      <p:sp>
        <p:nvSpPr>
          <p:cNvPr id="27" name="Seta 2.2"/>
          <p:cNvSpPr/>
          <p:nvPr/>
        </p:nvSpPr>
        <p:spPr>
          <a:xfrm>
            <a:off x="3621024" y="278892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28" name="Passo 2.3"/>
          <p:cNvSpPr/>
          <p:nvPr/>
        </p:nvSpPr>
        <p:spPr>
          <a:xfrm>
            <a:off x="3858768" y="258775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04488" y="258775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aula</a:t>
            </a:r>
            <a:endParaRPr lang="en-US" sz="1300" dirty="0"/>
          </a:p>
        </p:txBody>
      </p:sp>
      <p:sp>
        <p:nvSpPr>
          <p:cNvPr id="30" name="Seta 2.3"/>
          <p:cNvSpPr/>
          <p:nvPr/>
        </p:nvSpPr>
        <p:spPr>
          <a:xfrm>
            <a:off x="5321808" y="278892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31" name="Passo 2.4"/>
          <p:cNvSpPr/>
          <p:nvPr/>
        </p:nvSpPr>
        <p:spPr>
          <a:xfrm>
            <a:off x="5559552" y="258775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05272" y="258775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300" dirty="0"/>
          </a:p>
        </p:txBody>
      </p:sp>
      <p:sp>
        <p:nvSpPr>
          <p:cNvPr id="33" name="Seta 2.4"/>
          <p:cNvSpPr/>
          <p:nvPr/>
        </p:nvSpPr>
        <p:spPr>
          <a:xfrm>
            <a:off x="7022592" y="278892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34" name="Passo 2.5"/>
          <p:cNvSpPr/>
          <p:nvPr/>
        </p:nvSpPr>
        <p:spPr>
          <a:xfrm>
            <a:off x="7260336" y="2587752"/>
            <a:ext cx="1426464" cy="621792"/>
          </a:xfrm>
          <a:prstGeom prst="roundRect">
            <a:avLst>
              <a:gd name="adj" fmla="val 14706"/>
            </a:avLst>
          </a:prstGeom>
          <a:solidFill>
            <a:srgbClr val="299236"/>
          </a:solidFill>
          <a:ln w="12700">
            <a:solidFill>
              <a:srgbClr val="2992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06056" y="258775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removida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3 · O gerente altera um horário</a:t>
            </a:r>
            <a:endParaRPr lang="en-US" sz="1400" dirty="0"/>
          </a:p>
        </p:txBody>
      </p:sp>
      <p:sp>
        <p:nvSpPr>
          <p:cNvPr id="37" name="Passo 3.1"/>
          <p:cNvSpPr/>
          <p:nvPr/>
        </p:nvSpPr>
        <p:spPr>
          <a:xfrm>
            <a:off x="457200" y="3685032"/>
            <a:ext cx="1851660" cy="621792"/>
          </a:xfrm>
          <a:prstGeom prst="roundRect">
            <a:avLst>
              <a:gd name="adj" fmla="val 14706"/>
            </a:avLst>
          </a:prstGeom>
          <a:solidFill>
            <a:srgbClr val="212D37"/>
          </a:solidFill>
          <a:ln w="12700">
            <a:solidFill>
              <a:srgbClr val="212D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3685032"/>
            <a:ext cx="17602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horários</a:t>
            </a:r>
            <a:endParaRPr lang="en-US" sz="1300" dirty="0"/>
          </a:p>
        </p:txBody>
      </p:sp>
      <p:sp>
        <p:nvSpPr>
          <p:cNvPr id="39" name="Seta 3.1"/>
          <p:cNvSpPr/>
          <p:nvPr/>
        </p:nvSpPr>
        <p:spPr>
          <a:xfrm>
            <a:off x="2345436" y="388620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40" name="Passo 3.2"/>
          <p:cNvSpPr/>
          <p:nvPr/>
        </p:nvSpPr>
        <p:spPr>
          <a:xfrm>
            <a:off x="2583180" y="3685032"/>
            <a:ext cx="1851660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28900" y="3685032"/>
            <a:ext cx="17602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dia</a:t>
            </a:r>
            <a:endParaRPr lang="en-US" sz="1300" dirty="0"/>
          </a:p>
        </p:txBody>
      </p:sp>
      <p:sp>
        <p:nvSpPr>
          <p:cNvPr id="42" name="Seta 3.2"/>
          <p:cNvSpPr/>
          <p:nvPr/>
        </p:nvSpPr>
        <p:spPr>
          <a:xfrm>
            <a:off x="4471416" y="388620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43" name="Passo 3.3"/>
          <p:cNvSpPr/>
          <p:nvPr/>
        </p:nvSpPr>
        <p:spPr>
          <a:xfrm>
            <a:off x="4709160" y="3685032"/>
            <a:ext cx="1851660" cy="621792"/>
          </a:xfrm>
          <a:prstGeom prst="roundRect">
            <a:avLst>
              <a:gd name="adj" fmla="val 14706"/>
            </a:avLst>
          </a:prstGeom>
          <a:solidFill>
            <a:srgbClr val="F2F6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54880" y="3685032"/>
            <a:ext cx="17602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e pausa</a:t>
            </a:r>
            <a:endParaRPr lang="en-US" sz="1300" dirty="0"/>
          </a:p>
        </p:txBody>
      </p:sp>
      <p:sp>
        <p:nvSpPr>
          <p:cNvPr id="45" name="Seta 3.3"/>
          <p:cNvSpPr/>
          <p:nvPr/>
        </p:nvSpPr>
        <p:spPr>
          <a:xfrm>
            <a:off x="6597396" y="3886200"/>
            <a:ext cx="201168" cy="219456"/>
          </a:xfrm>
          <a:prstGeom prst="rightArrow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sp>
        <p:nvSpPr>
          <p:cNvPr id="46" name="Passo 3.4"/>
          <p:cNvSpPr/>
          <p:nvPr/>
        </p:nvSpPr>
        <p:spPr>
          <a:xfrm>
            <a:off x="6835140" y="3685032"/>
            <a:ext cx="1851660" cy="621792"/>
          </a:xfrm>
          <a:prstGeom prst="roundRect">
            <a:avLst>
              <a:gd name="adj" fmla="val 14706"/>
            </a:avLst>
          </a:prstGeom>
          <a:solidFill>
            <a:srgbClr val="299236"/>
          </a:solidFill>
          <a:ln w="12700">
            <a:solidFill>
              <a:srgbClr val="29923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80860" y="3685032"/>
            <a:ext cx="17602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navegável do Sinal Verde: dados em memória, sem login real, os fluxos percorrem-se só a clicar.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Erros e estados previstos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Estado 1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7" name="Ícone Máx. 4 aulas por dia (fundo)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pic>
        <p:nvPicPr>
          <p:cNvPr id="8" name="Image 0" descr="Ícone Máx. 4 aulas por d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421892"/>
            <a:ext cx="192024" cy="192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3258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4 aulas por dia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podes marcar no máximo 4 aulas no mesmo dia!</a:t>
            </a:r>
            <a:endParaRPr lang="en-US" sz="1200" dirty="0"/>
          </a:p>
        </p:txBody>
      </p:sp>
      <p:sp>
        <p:nvSpPr>
          <p:cNvPr id="11" name="Estado 2"/>
          <p:cNvSpPr/>
          <p:nvPr/>
        </p:nvSpPr>
        <p:spPr>
          <a:xfrm>
            <a:off x="3268980" y="11887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2" name="Ícone Máx. 2 aulas seguidas (fundo)"/>
          <p:cNvSpPr/>
          <p:nvPr/>
        </p:nvSpPr>
        <p:spPr>
          <a:xfrm>
            <a:off x="3406140" y="1325880"/>
            <a:ext cx="384048" cy="384048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pic>
        <p:nvPicPr>
          <p:cNvPr id="13" name="Image 1" descr="Ícone Máx. 2 aulas segui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2189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09060" y="13258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2 aulas seguidas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0614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podes ter no máximo 2 aulas seguidas uma da outra!</a:t>
            </a:r>
            <a:endParaRPr lang="en-US" sz="1200" dirty="0"/>
          </a:p>
        </p:txBody>
      </p:sp>
      <p:sp>
        <p:nvSpPr>
          <p:cNvPr id="16" name="Estado 3"/>
          <p:cNvSpPr/>
          <p:nvPr/>
        </p:nvSpPr>
        <p:spPr>
          <a:xfrm>
            <a:off x="6080760" y="11887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7" name="Ícone Dias que já passaram (fundo)"/>
          <p:cNvSpPr/>
          <p:nvPr/>
        </p:nvSpPr>
        <p:spPr>
          <a:xfrm>
            <a:off x="6217920" y="1325880"/>
            <a:ext cx="384048" cy="384048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pic>
        <p:nvPicPr>
          <p:cNvPr id="18" name="Image 2" descr="Ícone Dias que já passa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421892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20840" y="13258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que já passaram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podes marcar aulas para dias que já passaram!</a:t>
            </a:r>
            <a:endParaRPr lang="en-US" sz="1200" dirty="0"/>
          </a:p>
        </p:txBody>
      </p:sp>
      <p:sp>
        <p:nvSpPr>
          <p:cNvPr id="21" name="Estado 4"/>
          <p:cNvSpPr/>
          <p:nvPr/>
        </p:nvSpPr>
        <p:spPr>
          <a:xfrm>
            <a:off x="457200" y="2743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2" name="Ícone Aulas obrigatórias feitas (fundo)"/>
          <p:cNvSpPr/>
          <p:nvPr/>
        </p:nvSpPr>
        <p:spPr>
          <a:xfrm>
            <a:off x="594360" y="2880360"/>
            <a:ext cx="384048" cy="384048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pic>
        <p:nvPicPr>
          <p:cNvPr id="23" name="Image 3" descr="Ícone Aulas obrigatórias feit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2976372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7280" y="2880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obrigatórias feitas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marcaste todas as aulas obrigatórias</a:t>
            </a:r>
            <a:endParaRPr lang="en-US" sz="1200" dirty="0"/>
          </a:p>
        </p:txBody>
      </p:sp>
      <p:sp>
        <p:nvSpPr>
          <p:cNvPr id="26" name="Estado 5"/>
          <p:cNvSpPr/>
          <p:nvPr/>
        </p:nvSpPr>
        <p:spPr>
          <a:xfrm>
            <a:off x="3268980" y="2743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7" name="Ícone Desmarcar no próprio dia (fundo)"/>
          <p:cNvSpPr/>
          <p:nvPr/>
        </p:nvSpPr>
        <p:spPr>
          <a:xfrm>
            <a:off x="3406140" y="2880360"/>
            <a:ext cx="384048" cy="384048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pic>
        <p:nvPicPr>
          <p:cNvPr id="28" name="Image 4" descr="Ícone Desmarcar no próprio d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2976372"/>
            <a:ext cx="192024" cy="19202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909060" y="2880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Desmarcar no próprio dia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40614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desmarcar aulas marcadas para hoje.</a:t>
            </a:r>
            <a:endParaRPr lang="en-US" sz="1200" dirty="0"/>
          </a:p>
        </p:txBody>
      </p:sp>
      <p:sp>
        <p:nvSpPr>
          <p:cNvPr id="31" name="Estado 6"/>
          <p:cNvSpPr/>
          <p:nvPr/>
        </p:nvSpPr>
        <p:spPr>
          <a:xfrm>
            <a:off x="6080760" y="2743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32" name="Ícone Lista vazia (fundo)"/>
          <p:cNvSpPr/>
          <p:nvPr/>
        </p:nvSpPr>
        <p:spPr>
          <a:xfrm>
            <a:off x="6217920" y="2880360"/>
            <a:ext cx="384048" cy="384048"/>
          </a:xfrm>
          <a:prstGeom prst="ellipse">
            <a:avLst/>
          </a:prstGeom>
          <a:solidFill>
            <a:srgbClr val="63717D"/>
          </a:solidFill>
          <a:ln w="6350">
            <a:solidFill>
              <a:srgbClr val="63717D"/>
            </a:solidFill>
            <a:prstDash val="solid"/>
          </a:ln>
        </p:spPr>
      </p:sp>
      <p:pic>
        <p:nvPicPr>
          <p:cNvPr id="33" name="Image 5" descr="Ícone Lista vazi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932" y="2976372"/>
            <a:ext cx="192024" cy="19202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720840" y="2880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vazia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621792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aulas marcadas para esta semana.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aparecem junto à ação, com role="alert": lidos pelos leitores de ecrã.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Acessibilidade: contraste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Par 1"/>
          <p:cNvSpPr/>
          <p:nvPr/>
        </p:nvSpPr>
        <p:spPr>
          <a:xfrm>
            <a:off x="457200" y="1188720"/>
            <a:ext cx="5394960" cy="667512"/>
          </a:xfrm>
          <a:prstGeom prst="roundRect">
            <a:avLst>
              <a:gd name="adj" fmla="val 13699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7" name="Amostra 1"/>
          <p:cNvSpPr/>
          <p:nvPr/>
        </p:nvSpPr>
        <p:spPr>
          <a:xfrm>
            <a:off x="566928" y="1280160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28016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#212D37 · 14,0 :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18872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300" dirty="0"/>
          </a:p>
        </p:txBody>
      </p:sp>
      <p:sp>
        <p:nvSpPr>
          <p:cNvPr id="12" name="Par 2"/>
          <p:cNvSpPr/>
          <p:nvPr/>
        </p:nvSpPr>
        <p:spPr>
          <a:xfrm>
            <a:off x="457200" y="1965960"/>
            <a:ext cx="5394960" cy="667512"/>
          </a:xfrm>
          <a:prstGeom prst="roundRect">
            <a:avLst>
              <a:gd name="adj" fmla="val 13699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3" name="Amostra 2"/>
          <p:cNvSpPr/>
          <p:nvPr/>
        </p:nvSpPr>
        <p:spPr>
          <a:xfrm>
            <a:off x="566928" y="2057400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05740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secundário e legendas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#63717D · 5,0 :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196596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300" dirty="0"/>
          </a:p>
        </p:txBody>
      </p:sp>
      <p:sp>
        <p:nvSpPr>
          <p:cNvPr id="18" name="Par 3"/>
          <p:cNvSpPr/>
          <p:nvPr/>
        </p:nvSpPr>
        <p:spPr>
          <a:xfrm>
            <a:off x="457200" y="2743200"/>
            <a:ext cx="5394960" cy="667512"/>
          </a:xfrm>
          <a:prstGeom prst="roundRect">
            <a:avLst>
              <a:gd name="adj" fmla="val 13699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9" name="Amostra 3"/>
          <p:cNvSpPr/>
          <p:nvPr/>
        </p:nvSpPr>
        <p:spPr>
          <a:xfrm>
            <a:off x="566928" y="2834640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83464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816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escuro, texto pequeno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#036819 · 7,0 :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274320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300" dirty="0"/>
          </a:p>
        </p:txBody>
      </p:sp>
      <p:sp>
        <p:nvSpPr>
          <p:cNvPr id="24" name="Par 4"/>
          <p:cNvSpPr/>
          <p:nvPr/>
        </p:nvSpPr>
        <p:spPr>
          <a:xfrm>
            <a:off x="457200" y="3520440"/>
            <a:ext cx="5394960" cy="667512"/>
          </a:xfrm>
          <a:prstGeom prst="roundRect">
            <a:avLst>
              <a:gd name="adj" fmla="val 13699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5" name="Amostra 4"/>
          <p:cNvSpPr/>
          <p:nvPr/>
        </p:nvSpPr>
        <p:spPr>
          <a:xfrm>
            <a:off x="566928" y="3611880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61188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9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primário, títulos e botões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86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#299236 · 4,0 :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352044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 px a negrito</a:t>
            </a:r>
            <a:endParaRPr lang="en-US" sz="1300" dirty="0"/>
          </a:p>
        </p:txBody>
      </p:sp>
      <p:sp>
        <p:nvSpPr>
          <p:cNvPr id="30" name="Painel acentos"/>
          <p:cNvSpPr/>
          <p:nvPr/>
        </p:nvSpPr>
        <p:spPr>
          <a:xfrm>
            <a:off x="6126480" y="1188720"/>
            <a:ext cx="2560320" cy="2999232"/>
          </a:xfrm>
          <a:prstGeom prst="roundRect">
            <a:avLst>
              <a:gd name="adj" fmla="val 3571"/>
            </a:avLst>
          </a:prstGeom>
          <a:solidFill>
            <a:srgbClr val="212D37"/>
          </a:solidFill>
          <a:ln w="6350">
            <a:solidFill>
              <a:srgbClr val="212D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acentos, nunca texto</a:t>
            </a:r>
            <a:endParaRPr lang="en-US" sz="1600" dirty="0"/>
          </a:p>
        </p:txBody>
      </p:sp>
      <p:sp>
        <p:nvSpPr>
          <p:cNvPr id="32" name="Acento 1"/>
          <p:cNvSpPr/>
          <p:nvPr/>
        </p:nvSpPr>
        <p:spPr>
          <a:xfrm>
            <a:off x="6309360" y="1920240"/>
            <a:ext cx="548640" cy="548640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33" name="Acento 2"/>
          <p:cNvSpPr/>
          <p:nvPr/>
        </p:nvSpPr>
        <p:spPr>
          <a:xfrm>
            <a:off x="7040880" y="1920240"/>
            <a:ext cx="548640" cy="548640"/>
          </a:xfrm>
          <a:prstGeom prst="ellipse">
            <a:avLst/>
          </a:prstGeom>
          <a:solidFill>
            <a:srgbClr val="50BE34"/>
          </a:solidFill>
          <a:ln w="6350">
            <a:solidFill>
              <a:srgbClr val="50BE34"/>
            </a:solidFill>
            <a:prstDash val="solid"/>
          </a:ln>
        </p:spPr>
      </p:sp>
      <p:sp>
        <p:nvSpPr>
          <p:cNvPr id="34" name="Acento 3"/>
          <p:cNvSpPr/>
          <p:nvPr/>
        </p:nvSpPr>
        <p:spPr>
          <a:xfrm>
            <a:off x="7772400" y="1920240"/>
            <a:ext cx="548640" cy="548640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26974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 texto escuro por cima (9,1 : 1 sobre o amarelo). A cor nunca é o único sinal: texto, contorno tracejado e role="alert".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Letra, teclado e leitores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Cartão Tipografia"/>
          <p:cNvSpPr/>
          <p:nvPr/>
        </p:nvSpPr>
        <p:spPr>
          <a:xfrm>
            <a:off x="45720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7" name="Ícone Tipografia (fundo)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pic>
        <p:nvPicPr>
          <p:cNvPr id="8" name="Image 0" descr="Ícone Tipograf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1488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Fredoka nos títulos: 27 a 42 px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Nunito no corpo: 14 a 16 px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 entre linhas de 1,16 ou mais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principais com 44 a 49 px de altura</a:t>
            </a:r>
            <a:endParaRPr lang="en-US" sz="1400" dirty="0"/>
          </a:p>
        </p:txBody>
      </p:sp>
      <p:sp>
        <p:nvSpPr>
          <p:cNvPr id="11" name="Cartão Teclado e leitores de ecrã"/>
          <p:cNvSpPr/>
          <p:nvPr/>
        </p:nvSpPr>
        <p:spPr>
          <a:xfrm>
            <a:off x="475488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2" name="Ícone Teclado e leitores de ecrã (fundo)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pic>
        <p:nvPicPr>
          <p:cNvPr id="13" name="Image 1" descr="Ícone Teclado e leitores de ecrã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1500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e leitores de ecrã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21488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e ligações nativos: Tab, Enter e Espaço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nos botões só de ícone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aria-pressed nos chips de instrutor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com foco preso e fecho com Esc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Responsividade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Computador"/>
          <p:cNvSpPr/>
          <p:nvPr/>
        </p:nvSpPr>
        <p:spPr>
          <a:xfrm>
            <a:off x="45720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12D37"/>
            </a:solidFill>
            <a:prstDash val="solid"/>
          </a:ln>
        </p:spPr>
      </p:sp>
      <p:sp>
        <p:nvSpPr>
          <p:cNvPr id="7" name="Barra lateral computador"/>
          <p:cNvSpPr/>
          <p:nvPr/>
        </p:nvSpPr>
        <p:spPr>
          <a:xfrm>
            <a:off x="566928" y="1389888"/>
            <a:ext cx="640080" cy="1517904"/>
          </a:xfrm>
          <a:prstGeom prst="rect">
            <a:avLst/>
          </a:prstGeom>
          <a:solidFill>
            <a:srgbClr val="DDE5E0"/>
          </a:solidFill>
          <a:ln w="6350">
            <a:solidFill>
              <a:srgbClr val="DDE5E0"/>
            </a:solidFill>
            <a:prstDash val="solid"/>
          </a:ln>
        </p:spPr>
      </p:sp>
      <p:sp>
        <p:nvSpPr>
          <p:cNvPr id="8" name="Coluna 1"/>
          <p:cNvSpPr/>
          <p:nvPr/>
        </p:nvSpPr>
        <p:spPr>
          <a:xfrm>
            <a:off x="1325880" y="1389888"/>
            <a:ext cx="256032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9" name="Coluna 2"/>
          <p:cNvSpPr/>
          <p:nvPr/>
        </p:nvSpPr>
        <p:spPr>
          <a:xfrm>
            <a:off x="1618488" y="1389888"/>
            <a:ext cx="256032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0" name="Coluna 3"/>
          <p:cNvSpPr/>
          <p:nvPr/>
        </p:nvSpPr>
        <p:spPr>
          <a:xfrm>
            <a:off x="1911096" y="1389888"/>
            <a:ext cx="256032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1" name="Coluna 4"/>
          <p:cNvSpPr/>
          <p:nvPr/>
        </p:nvSpPr>
        <p:spPr>
          <a:xfrm>
            <a:off x="2203704" y="1389888"/>
            <a:ext cx="256032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2" name="Coluna 5"/>
          <p:cNvSpPr/>
          <p:nvPr/>
        </p:nvSpPr>
        <p:spPr>
          <a:xfrm>
            <a:off x="2496312" y="1389888"/>
            <a:ext cx="256032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3" name="Coluna 6"/>
          <p:cNvSpPr/>
          <p:nvPr/>
        </p:nvSpPr>
        <p:spPr>
          <a:xfrm>
            <a:off x="2788920" y="1389888"/>
            <a:ext cx="256032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4" name="Tablet"/>
          <p:cNvSpPr/>
          <p:nvPr/>
        </p:nvSpPr>
        <p:spPr>
          <a:xfrm>
            <a:off x="326898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12D37"/>
            </a:solidFill>
            <a:prstDash val="solid"/>
          </a:ln>
        </p:spPr>
      </p:sp>
      <p:sp>
        <p:nvSpPr>
          <p:cNvPr id="15" name="Barra lateral tablet"/>
          <p:cNvSpPr/>
          <p:nvPr/>
        </p:nvSpPr>
        <p:spPr>
          <a:xfrm>
            <a:off x="3378708" y="1389888"/>
            <a:ext cx="502920" cy="1517904"/>
          </a:xfrm>
          <a:prstGeom prst="rect">
            <a:avLst/>
          </a:prstGeom>
          <a:solidFill>
            <a:srgbClr val="DDE5E0"/>
          </a:solidFill>
          <a:ln w="6350">
            <a:solidFill>
              <a:srgbClr val="DDE5E0"/>
            </a:solidFill>
            <a:prstDash val="solid"/>
          </a:ln>
        </p:spPr>
      </p:sp>
      <p:sp>
        <p:nvSpPr>
          <p:cNvPr id="16" name="Coluna tablet 1"/>
          <p:cNvSpPr/>
          <p:nvPr/>
        </p:nvSpPr>
        <p:spPr>
          <a:xfrm>
            <a:off x="3986784" y="1389888"/>
            <a:ext cx="274320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7" name="Coluna tablet 2"/>
          <p:cNvSpPr/>
          <p:nvPr/>
        </p:nvSpPr>
        <p:spPr>
          <a:xfrm>
            <a:off x="4297680" y="1389888"/>
            <a:ext cx="274320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8" name="Coluna tablet 3"/>
          <p:cNvSpPr/>
          <p:nvPr/>
        </p:nvSpPr>
        <p:spPr>
          <a:xfrm>
            <a:off x="4608576" y="1389888"/>
            <a:ext cx="274320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19" name="Coluna tablet 4"/>
          <p:cNvSpPr/>
          <p:nvPr/>
        </p:nvSpPr>
        <p:spPr>
          <a:xfrm>
            <a:off x="4919472" y="1389888"/>
            <a:ext cx="274320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0" name="Coluna tablet 5"/>
          <p:cNvSpPr/>
          <p:nvPr/>
        </p:nvSpPr>
        <p:spPr>
          <a:xfrm>
            <a:off x="5230368" y="1389888"/>
            <a:ext cx="274320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1" name="Coluna tablet 6"/>
          <p:cNvSpPr/>
          <p:nvPr/>
        </p:nvSpPr>
        <p:spPr>
          <a:xfrm>
            <a:off x="5541264" y="1389888"/>
            <a:ext cx="274320" cy="1517904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2" name="Telemóvel"/>
          <p:cNvSpPr/>
          <p:nvPr/>
        </p:nvSpPr>
        <p:spPr>
          <a:xfrm>
            <a:off x="6880860" y="1097280"/>
            <a:ext cx="1005840" cy="1920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12D37"/>
            </a:solidFill>
            <a:prstDash val="solid"/>
          </a:ln>
        </p:spPr>
      </p:sp>
      <p:sp>
        <p:nvSpPr>
          <p:cNvPr id="23" name="Barra superior móvel"/>
          <p:cNvSpPr/>
          <p:nvPr/>
        </p:nvSpPr>
        <p:spPr>
          <a:xfrm>
            <a:off x="6972300" y="1188720"/>
            <a:ext cx="822960" cy="274320"/>
          </a:xfrm>
          <a:prstGeom prst="rect">
            <a:avLst/>
          </a:prstGeom>
          <a:solidFill>
            <a:srgbClr val="DDE5E0"/>
          </a:solidFill>
          <a:ln w="6350">
            <a:solidFill>
              <a:srgbClr val="DDE5E0"/>
            </a:solidFill>
            <a:prstDash val="solid"/>
          </a:ln>
        </p:spPr>
      </p:sp>
      <p:sp>
        <p:nvSpPr>
          <p:cNvPr id="24" name="Hambúrguer 1"/>
          <p:cNvSpPr/>
          <p:nvPr/>
        </p:nvSpPr>
        <p:spPr>
          <a:xfrm>
            <a:off x="7036308" y="1252728"/>
            <a:ext cx="182880" cy="27432"/>
          </a:xfrm>
          <a:prstGeom prst="rect">
            <a:avLst/>
          </a:prstGeom>
          <a:solidFill>
            <a:srgbClr val="212D37"/>
          </a:solidFill>
          <a:ln w="6350">
            <a:solidFill>
              <a:srgbClr val="212D37"/>
            </a:solidFill>
            <a:prstDash val="solid"/>
          </a:ln>
        </p:spPr>
      </p:sp>
      <p:sp>
        <p:nvSpPr>
          <p:cNvPr id="25" name="Hambúrguer 2"/>
          <p:cNvSpPr/>
          <p:nvPr/>
        </p:nvSpPr>
        <p:spPr>
          <a:xfrm>
            <a:off x="7036308" y="1307592"/>
            <a:ext cx="182880" cy="27432"/>
          </a:xfrm>
          <a:prstGeom prst="rect">
            <a:avLst/>
          </a:prstGeom>
          <a:solidFill>
            <a:srgbClr val="212D37"/>
          </a:solidFill>
          <a:ln w="6350">
            <a:solidFill>
              <a:srgbClr val="212D37"/>
            </a:solidFill>
            <a:prstDash val="solid"/>
          </a:ln>
        </p:spPr>
      </p:sp>
      <p:sp>
        <p:nvSpPr>
          <p:cNvPr id="26" name="Hambúrguer 3"/>
          <p:cNvSpPr/>
          <p:nvPr/>
        </p:nvSpPr>
        <p:spPr>
          <a:xfrm>
            <a:off x="7036308" y="1362456"/>
            <a:ext cx="182880" cy="27432"/>
          </a:xfrm>
          <a:prstGeom prst="rect">
            <a:avLst/>
          </a:prstGeom>
          <a:solidFill>
            <a:srgbClr val="212D37"/>
          </a:solidFill>
          <a:ln w="6350">
            <a:solidFill>
              <a:srgbClr val="212D37"/>
            </a:solidFill>
            <a:prstDash val="solid"/>
          </a:ln>
        </p:spPr>
      </p:sp>
      <p:sp>
        <p:nvSpPr>
          <p:cNvPr id="27" name="Bloco 1"/>
          <p:cNvSpPr/>
          <p:nvPr/>
        </p:nvSpPr>
        <p:spPr>
          <a:xfrm>
            <a:off x="6972300" y="1536192"/>
            <a:ext cx="822960" cy="640080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8" name="Bloco 2"/>
          <p:cNvSpPr/>
          <p:nvPr/>
        </p:nvSpPr>
        <p:spPr>
          <a:xfrm>
            <a:off x="6972300" y="2249424"/>
            <a:ext cx="822960" cy="640080"/>
          </a:xfrm>
          <a:prstGeom prst="rect">
            <a:avLst/>
          </a:prstGeom>
          <a:solidFill>
            <a:srgbClr val="F2F6F3"/>
          </a:solidFill>
          <a:ln w="6350">
            <a:solidFill>
              <a:srgbClr val="F2F6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· 1000 px ou mais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de 244 px e calendário semanal completo.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26898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· 700 a 1000 px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26898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mais estreita, de 210 px, e margens reduzidas.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D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Telemóvel · menos de 700 px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3749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7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hambúrguer, ecrã de entrada empilhado e calendário com rolagem horizontal (mín. 680 px).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D37"/>
                </a:solidFill>
              </a:rPr>
              <a:t>Cronograma de E3 a E6</a:t>
            </a:r>
            <a:endParaRPr lang="en-US" sz="3200" dirty="0"/>
          </a:p>
        </p:txBody>
      </p:sp>
      <p:sp>
        <p:nvSpPr>
          <p:cNvPr id="3" name="Ponto semáforo 1"/>
          <p:cNvSpPr/>
          <p:nvPr/>
        </p:nvSpPr>
        <p:spPr>
          <a:xfrm>
            <a:off x="8001000" y="502920"/>
            <a:ext cx="128016" cy="128016"/>
          </a:xfrm>
          <a:prstGeom prst="ellipse">
            <a:avLst/>
          </a:prstGeom>
          <a:solidFill>
            <a:srgbClr val="F54842"/>
          </a:solidFill>
          <a:ln w="6350">
            <a:solidFill>
              <a:srgbClr val="F54842"/>
            </a:solidFill>
            <a:prstDash val="solid"/>
          </a:ln>
        </p:spPr>
      </p:sp>
      <p:sp>
        <p:nvSpPr>
          <p:cNvPr id="4" name="Ponto semáforo 2"/>
          <p:cNvSpPr/>
          <p:nvPr/>
        </p:nvSpPr>
        <p:spPr>
          <a:xfrm>
            <a:off x="8202168" y="502920"/>
            <a:ext cx="128016" cy="128016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sp>
        <p:nvSpPr>
          <p:cNvPr id="5" name="Ponto semáforo 3"/>
          <p:cNvSpPr/>
          <p:nvPr/>
        </p:nvSpPr>
        <p:spPr>
          <a:xfrm>
            <a:off x="8403336" y="502920"/>
            <a:ext cx="128016" cy="128016"/>
          </a:xfrm>
          <a:prstGeom prst="ellipse">
            <a:avLst/>
          </a:prstGeom>
          <a:solidFill>
            <a:srgbClr val="299236"/>
          </a:solidFill>
          <a:ln w="6350">
            <a:solidFill>
              <a:srgbClr val="299236"/>
            </a:solidFill>
            <a:prstDash val="solid"/>
          </a:ln>
        </p:spPr>
      </p:sp>
      <p:sp>
        <p:nvSpPr>
          <p:cNvPr id="6" name="Moldura Gantt"/>
          <p:cNvSpPr/>
          <p:nvPr/>
        </p:nvSpPr>
        <p:spPr>
          <a:xfrm>
            <a:off x="1210775" y="1042416"/>
            <a:ext cx="672245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7" name="Image 0" descr="Gráfico de Gantt com as tarefas de E2 a E6 por semanas, de outubro a dezemb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351" y="1078992"/>
            <a:ext cx="6649298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7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Pontos a melhorar e a seguir</a:t>
            </a:r>
            <a:endParaRPr lang="en-US" sz="3400" dirty="0"/>
          </a:p>
        </p:txBody>
      </p:sp>
      <p:sp>
        <p:nvSpPr>
          <p:cNvPr id="3" name="Cartão Pontos a melhorar"/>
          <p:cNvSpPr/>
          <p:nvPr/>
        </p:nvSpPr>
        <p:spPr>
          <a:xfrm>
            <a:off x="640080" y="141732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2F3D49"/>
          </a:solidFill>
          <a:ln w="6350">
            <a:solidFill>
              <a:srgbClr val="2F3D49"/>
            </a:solidFill>
            <a:prstDash val="solid"/>
          </a:ln>
        </p:spPr>
      </p:sp>
      <p:sp>
        <p:nvSpPr>
          <p:cNvPr id="4" name="Ícone Pontos a melhorar (fundo)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pic>
        <p:nvPicPr>
          <p:cNvPr id="5" name="Image 0" descr="Ícone Pontos a melhor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 melhorar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774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só de ícone: de 36 px para 44 px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aberto no telemóvel: fechar com Esc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Gantt: um responsável em cada tarefa</a:t>
            </a:r>
            <a:endParaRPr lang="en-US" sz="1400" dirty="0"/>
          </a:p>
        </p:txBody>
      </p:sp>
      <p:sp>
        <p:nvSpPr>
          <p:cNvPr id="8" name="Cartão A seguir"/>
          <p:cNvSpPr/>
          <p:nvPr/>
        </p:nvSpPr>
        <p:spPr>
          <a:xfrm>
            <a:off x="4754880" y="141732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2F3D49"/>
          </a:solidFill>
          <a:ln w="6350">
            <a:solidFill>
              <a:srgbClr val="2F3D49"/>
            </a:solidFill>
            <a:prstDash val="solid"/>
          </a:ln>
        </p:spPr>
      </p:sp>
      <p:sp>
        <p:nvSpPr>
          <p:cNvPr id="9" name="Ícone A seguir (fundo)"/>
          <p:cNvSpPr/>
          <p:nvPr/>
        </p:nvSpPr>
        <p:spPr>
          <a:xfrm>
            <a:off x="4983480" y="1600200"/>
            <a:ext cx="548640" cy="548640"/>
          </a:xfrm>
          <a:prstGeom prst="ellipse">
            <a:avLst/>
          </a:prstGeom>
          <a:solidFill>
            <a:srgbClr val="FCCA21"/>
          </a:solidFill>
          <a:ln w="6350">
            <a:solidFill>
              <a:srgbClr val="FCCA21"/>
            </a:solidFill>
            <a:prstDash val="solid"/>
          </a:ln>
        </p:spPr>
      </p:sp>
      <p:pic>
        <p:nvPicPr>
          <p:cNvPr id="10" name="Image 1" descr="Ícone A segu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3774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Base de dados: 5 de novembro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Frontend: 19 de novembro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9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atualizado em cada entrega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nal Verde">
  <a:themeElements>
    <a:clrScheme name="Sinal Verde">
      <a:dk1>
        <a:srgbClr val="212D37"/>
      </a:dk1>
      <a:lt1>
        <a:srgbClr val="FFFFFF"/>
      </a:lt1>
      <a:dk2>
        <a:srgbClr val="036819"/>
      </a:dk2>
      <a:lt2>
        <a:srgbClr val="F2F6F3"/>
      </a:lt2>
      <a:accent1>
        <a:srgbClr val="299236"/>
      </a:accent1>
      <a:accent2>
        <a:srgbClr val="FCCA21"/>
      </a:accent2>
      <a:accent3>
        <a:srgbClr val="F54842"/>
      </a:accent3>
      <a:accent4>
        <a:srgbClr val="50BE34"/>
      </a:accent4>
      <a:accent5>
        <a:srgbClr val="0064B9"/>
      </a:accent5>
      <a:accent6>
        <a:srgbClr val="63717D"/>
      </a:accent6>
      <a:hlink>
        <a:srgbClr val="0064B9"/>
      </a:hlink>
      <a:folHlink>
        <a:srgbClr val="7444B4"/>
      </a:folHlink>
    </a:clrScheme>
    <a:fontScheme name="Sinal Ver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Sinal Verde — E2 Layouts</dc:title>
  <dc:subject>PptxGenJS Presentation</dc:subject>
  <dc:creator>Equipa Sinal Verde</dc:creator>
  <cp:lastModifiedBy>Equipa Sinal Verde</cp:lastModifiedBy>
  <cp:revision>1</cp:revision>
  <dcterms:created xsi:type="dcterms:W3CDTF">2026-10-22T18:14:49Z</dcterms:created>
  <dcterms:modified xsi:type="dcterms:W3CDTF">2026-10-22T18:14:49Z</dcterms:modified>
</cp:coreProperties>
</file>