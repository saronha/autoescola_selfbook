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393AF18-6EDA-42FD-B9BF-52C7F37936A3}">
          <p14:sldIdLst>
            <p14:sldId id="256"/>
          </p14:sldIdLst>
        </p14:section>
        <p14:section name="01 · Problema e utilizadores" id="{820035A6-9345-BA26-4FFC-CF54263CFFB3}">
          <p14:sldIdLst>
            <p14:sldId id="257"/>
            <p14:sldId id="258"/>
          </p14:sldIdLst>
        </p14:section>
        <p14:section name="02 · Proposta de valor" id="{9B6027CF-B418-7C41-62B7-6C0BC4C708C8}">
          <p14:sldIdLst>
            <p14:sldId id="259"/>
          </p14:sldIdLst>
        </p14:section>
        <p14:section name="03 · Objetivos e âmbito" id="{ED01493F-01B2-2FFF-EBF9-AEBAFB49A644}">
          <p14:sldIdLst>
            <p14:sldId id="260"/>
          </p14:sldIdLst>
        </p14:section>
        <p14:section name="04 · Requisitos e stakeholders" id="{B7AE4091-0146-7A8B-7D1F-6D4FFB95B145}">
          <p14:sldIdLst>
            <p14:sldId id="261"/>
            <p14:sldId id="262"/>
          </p14:sldIdLst>
        </p14:section>
        <p14:section name="05 · Equipa e tecnologias" id="{3788D208-824D-423B-577B-C2055BF9114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33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(≈15 s) Somos a Karinne e a Sarah e vamos apresentar o SelfBook: um sistema para os alunos de uma escola de condução marcarem as suas aulas sozinhos, sem passar pela recepção.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(≈45 s) Hoje a marcação depende sempre de uma pessoa: ou a recepcionista vai verificando o instrutor dia a dia, ou o aluno diz os seus dias e ela procura, um a um, quem está livre. Para um aluno que marca várias aulas de uma vez, isto leva entre 3 e 10 minutos, com e-mails de ida e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(≈35 s) Falámos com o dono de uma escola de condução. Confirmou que o processo é demorado, que a recepção passa o dia a fazer isto e que, para ele, o trabalho podia ser totalmente automatizado. Hoje usam duas tabelas de Excel: uma para os horários e outra para as aulas.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(≈45 s) O SelfBook mostra a disponibilidade de todos os instrutores num só sítio. O aluno escolhe o horário que lhe serve e a marcação fica feita, sem pessoa intermédia. É uma solução B2B2C: a escola poupa custos e o aluno ganha rapidez.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(≈40 s) Definimos objetivos que se confirmam no fim: nenhuma intervenção da recepção, todos os instrutores num só ecrã, marcação em menos de 2 minutos e gestão de horários pela escola. Nesta versão fica uma só escola; pagamentos e app móvel ficam para versões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(≈40 s) Ordenámos os requisitos pelo método MoSCoW. O essencial são três coisas: a escola gere horários, o aluno vê a disponibilidade e marca sozinho. O percurso do aluno é desejável, o feedback é opcional e o pagamento fica fora. Dois requisitos de qualidade: abrir em menos de 3 segundos e nunca haver marcações duplicadas.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(≈25 s) Há três grupos: quem usa (alunos, recepção, instrutores), quem decide (a direção da escola) e quem sente os efeitos. Daqui sai uma consequência de desenho: perfis diferentes precisam de permissões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(≈25 s) A Karinne trata dos layouts, do frontend e do relatório; a Sarah da base de dados e do backend. Usamos HTML, CSS e JavaScript no frontend, MySQL na base de dados e PHP no backend, porque já os usámos nas aulas e conseguimos entregar a primeira versão no prazo. Obrigada! SelfBook: o aluno marca, a escola ganha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46888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SelfBook · Projeto TPSI 2026/2027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72768"/>
            <a:ext cx="357888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SelfBook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34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Marcação de aulas de condução, sem intermediários</a:t>
            </a:r>
            <a:endParaRPr lang="en-US" sz="2200" dirty="0"/>
          </a:p>
        </p:txBody>
      </p:sp>
      <p:sp>
        <p:nvSpPr>
          <p:cNvPr id="4" name="Autoras"/>
          <p:cNvSpPr txBox="1"/>
          <p:nvPr/>
        </p:nvSpPr>
        <p:spPr>
          <a:xfrm>
            <a:off x="64008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Karinne Abreu  · Sarah Fontes</a:t>
            </a:r>
            <a:endParaRPr lang="en-US" sz="1800" dirty="0"/>
          </a:p>
        </p:txBody>
      </p:sp>
      <p:sp>
        <p:nvSpPr>
          <p:cNvPr id="5" name="Contexto"/>
          <p:cNvSpPr txBox="1"/>
          <p:nvPr/>
        </p:nvSpPr>
        <p:spPr>
          <a:xfrm>
            <a:off x="64008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Pitch de 5 minutos · Projeto TPSI 2026/2027</a:t>
            </a:r>
            <a:endParaRPr lang="en-US" sz="1400" dirty="0"/>
          </a:p>
        </p:txBody>
      </p:sp>
      <p:sp>
        <p:nvSpPr>
          <p:cNvPr id="6" name="Semáforo"/>
          <p:cNvSpPr/>
          <p:nvPr/>
        </p:nvSpPr>
        <p:spPr>
          <a:xfrm>
            <a:off x="6949440" y="822960"/>
            <a:ext cx="1463040" cy="34290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Luz 1"/>
          <p:cNvSpPr/>
          <p:nvPr/>
        </p:nvSpPr>
        <p:spPr>
          <a:xfrm>
            <a:off x="7269480" y="10972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8" name="Luz 2"/>
          <p:cNvSpPr/>
          <p:nvPr/>
        </p:nvSpPr>
        <p:spPr>
          <a:xfrm>
            <a:off x="7269480" y="2121408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Luz 3"/>
          <p:cNvSpPr/>
          <p:nvPr/>
        </p:nvSpPr>
        <p:spPr>
          <a:xfrm>
            <a:off x="7269480" y="3145536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2" name="Imagem 11" descr="e-Learn – eCampus – UPSantarém">
            <a:extLst>
              <a:ext uri="{FF2B5EF4-FFF2-40B4-BE49-F238E27FC236}">
                <a16:creationId xmlns:a16="http://schemas.microsoft.com/office/drawing/2014/main" id="{29353E94-009F-83EA-55A6-785CC4B56F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  <a14:imgEffect>
                      <a14:saturation sat="0"/>
                    </a14:imgEffect>
                    <a14:imgEffect>
                      <a14:brightnessContrast bright="62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" y="614614"/>
            <a:ext cx="3731479" cy="793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a secção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</a:rPr>
              <a:t>01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 problema: marcar aulas à mão</a:t>
            </a:r>
            <a:endParaRPr lang="en-US" sz="3400" dirty="0"/>
          </a:p>
        </p:txBody>
      </p:sp>
      <p:sp>
        <p:nvSpPr>
          <p:cNvPr id="4" name="Rótulo"/>
          <p:cNvSpPr txBox="1"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Como se faz hoje</a:t>
            </a:r>
            <a:endParaRPr lang="en-US" sz="1600" dirty="0"/>
          </a:p>
        </p:txBody>
      </p:sp>
      <p:sp>
        <p:nvSpPr>
          <p:cNvPr id="5" name="Cartão forma 1"/>
          <p:cNvSpPr/>
          <p:nvPr/>
        </p:nvSpPr>
        <p:spPr>
          <a:xfrm>
            <a:off x="457200" y="1600200"/>
            <a:ext cx="5029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Ícone calendário (círculo)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7" name="Ícone calendário" descr="Ícone calendár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274320" cy="274320"/>
          </a:xfrm>
          <a:prstGeom prst="rect">
            <a:avLst/>
          </a:prstGeom>
        </p:spPr>
      </p:pic>
      <p:sp>
        <p:nvSpPr>
          <p:cNvPr id="8" name="Forma 1"/>
          <p:cNvSpPr txBox="1"/>
          <p:nvPr/>
        </p:nvSpPr>
        <p:spPr>
          <a:xfrm>
            <a:off x="1371600" y="1645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recepcionista verifica a disponibilidade do instrutor dia a dia e diz ao aluno, em cada dia, se há vaga.</a:t>
            </a:r>
            <a:endParaRPr lang="en-US" sz="1400" dirty="0"/>
          </a:p>
        </p:txBody>
      </p:sp>
      <p:sp>
        <p:nvSpPr>
          <p:cNvPr id="9" name="Cartão forma 2"/>
          <p:cNvSpPr/>
          <p:nvPr/>
        </p:nvSpPr>
        <p:spPr>
          <a:xfrm>
            <a:off x="457200" y="2651760"/>
            <a:ext cx="5029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Ícone aluno (círculo)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1" name="Ícone aluno" descr="Ícone alu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71800"/>
            <a:ext cx="274320" cy="274320"/>
          </a:xfrm>
          <a:prstGeom prst="rect">
            <a:avLst/>
          </a:prstGeom>
        </p:spPr>
      </p:pic>
      <p:sp>
        <p:nvSpPr>
          <p:cNvPr id="12" name="Forma 2"/>
          <p:cNvSpPr txBox="1"/>
          <p:nvPr/>
        </p:nvSpPr>
        <p:spPr>
          <a:xfrm>
            <a:off x="1371600" y="26974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 o aluno indica os dias em que pode e a recepcionista vai vendo, um a um, qual instrutor está livre.</a:t>
            </a:r>
            <a:endParaRPr lang="en-US" sz="1400" dirty="0"/>
          </a:p>
        </p:txBody>
      </p:sp>
      <p:sp>
        <p:nvSpPr>
          <p:cNvPr id="13" name="Custo e-mails"/>
          <p:cNvSpPr/>
          <p:nvPr/>
        </p:nvSpPr>
        <p:spPr>
          <a:xfrm>
            <a:off x="457200" y="3703320"/>
            <a:ext cx="242316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o e-mails"/>
          <p:cNvSpPr txBox="1"/>
          <p:nvPr/>
        </p:nvSpPr>
        <p:spPr>
          <a:xfrm>
            <a:off x="594360" y="3749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Trocas de e-mails até haver um horário em comum</a:t>
            </a:r>
            <a:endParaRPr lang="en-US" sz="1400" dirty="0"/>
          </a:p>
        </p:txBody>
      </p:sp>
      <p:sp>
        <p:nvSpPr>
          <p:cNvPr id="15" name="Custo pessoal"/>
          <p:cNvSpPr/>
          <p:nvPr/>
        </p:nvSpPr>
        <p:spPr>
          <a:xfrm>
            <a:off x="3063240" y="3703320"/>
            <a:ext cx="242316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o pessoal"/>
          <p:cNvSpPr txBox="1"/>
          <p:nvPr/>
        </p:nvSpPr>
        <p:spPr>
          <a:xfrm>
            <a:off x="3200400" y="3749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Pessoal ocupado em tarefas automatizáveis</a:t>
            </a:r>
            <a:endParaRPr lang="en-US" sz="1400" dirty="0"/>
          </a:p>
        </p:txBody>
      </p:sp>
      <p:sp>
        <p:nvSpPr>
          <p:cNvPr id="17" name="Cartão estatística"/>
          <p:cNvSpPr/>
          <p:nvPr/>
        </p:nvSpPr>
        <p:spPr>
          <a:xfrm>
            <a:off x="5760720" y="1188720"/>
            <a:ext cx="2926080" cy="3383280"/>
          </a:xfrm>
          <a:prstGeom prst="roundRect">
            <a:avLst>
              <a:gd name="adj" fmla="val 312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Número"/>
          <p:cNvSpPr txBox="1"/>
          <p:nvPr/>
        </p:nvSpPr>
        <p:spPr>
          <a:xfrm>
            <a:off x="594360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3–10</a:t>
            </a:r>
            <a:endParaRPr lang="en-US" sz="6000" dirty="0"/>
          </a:p>
        </p:txBody>
      </p:sp>
      <p:sp>
        <p:nvSpPr>
          <p:cNvPr id="19" name="Unidade"/>
          <p:cNvSpPr txBox="1"/>
          <p:nvPr/>
        </p:nvSpPr>
        <p:spPr>
          <a:xfrm>
            <a:off x="594360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minutos</a:t>
            </a:r>
            <a:endParaRPr lang="en-US" sz="2400" dirty="0"/>
          </a:p>
        </p:txBody>
      </p:sp>
      <p:sp>
        <p:nvSpPr>
          <p:cNvPr id="20" name="Legenda"/>
          <p:cNvSpPr txBox="1"/>
          <p:nvPr/>
        </p:nvSpPr>
        <p:spPr>
          <a:xfrm>
            <a:off x="5943600" y="31089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para marcar as aulas de um aluno, conforme o número de aulas a marcar.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a secção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</a:rPr>
              <a:t>01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Prova: a voz do dono da escola</a:t>
            </a:r>
            <a:endParaRPr lang="en-US" sz="3400" dirty="0"/>
          </a:p>
        </p:txBody>
      </p:sp>
      <p:sp>
        <p:nvSpPr>
          <p:cNvPr id="4" name="Subtítulo"/>
          <p:cNvSpPr txBox="1"/>
          <p:nvPr/>
        </p:nvSpPr>
        <p:spPr>
          <a:xfrm>
            <a:off x="1188720" y="1005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Entrevista ao dono de uma escola de condução</a:t>
            </a:r>
            <a:endParaRPr lang="en-US" sz="1400" dirty="0"/>
          </a:p>
        </p:txBody>
      </p:sp>
      <p:sp>
        <p:nvSpPr>
          <p:cNvPr id="5" name="Cartão citação 1"/>
          <p:cNvSpPr/>
          <p:nvPr/>
        </p:nvSpPr>
        <p:spPr>
          <a:xfrm>
            <a:off x="457200" y="146304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Aspas 1"/>
          <p:cNvSpPr txBox="1"/>
          <p:nvPr/>
        </p:nvSpPr>
        <p:spPr>
          <a:xfrm>
            <a:off x="640080" y="1554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“</a:t>
            </a:r>
            <a:endParaRPr lang="en-US" sz="5400" dirty="0"/>
          </a:p>
        </p:txBody>
      </p:sp>
      <p:sp>
        <p:nvSpPr>
          <p:cNvPr id="7" name="Tema 1"/>
          <p:cNvSpPr txBox="1"/>
          <p:nvPr/>
        </p:nvSpPr>
        <p:spPr>
          <a:xfrm>
            <a:off x="6400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que corre mal</a:t>
            </a:r>
            <a:endParaRPr lang="en-US" sz="1400" dirty="0"/>
          </a:p>
        </p:txBody>
      </p:sp>
      <p:sp>
        <p:nvSpPr>
          <p:cNvPr id="8" name="Citação 1"/>
          <p:cNvSpPr txBox="1"/>
          <p:nvPr/>
        </p:nvSpPr>
        <p:spPr>
          <a:xfrm>
            <a:off x="64008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É um processo demorado (…) o que costuma criar filas de espera desnecessárias.</a:t>
            </a:r>
            <a:endParaRPr lang="en-US" sz="1400" dirty="0"/>
          </a:p>
        </p:txBody>
      </p:sp>
      <p:sp>
        <p:nvSpPr>
          <p:cNvPr id="9" name="Cartão citação 2"/>
          <p:cNvSpPr/>
          <p:nvPr/>
        </p:nvSpPr>
        <p:spPr>
          <a:xfrm>
            <a:off x="3291840" y="146304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Aspas 2"/>
          <p:cNvSpPr txBox="1"/>
          <p:nvPr/>
        </p:nvSpPr>
        <p:spPr>
          <a:xfrm>
            <a:off x="3474720" y="1554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“</a:t>
            </a:r>
            <a:endParaRPr lang="en-US" sz="5400" dirty="0"/>
          </a:p>
        </p:txBody>
      </p:sp>
      <p:sp>
        <p:nvSpPr>
          <p:cNvPr id="11" name="Tema 2"/>
          <p:cNvSpPr txBox="1"/>
          <p:nvPr/>
        </p:nvSpPr>
        <p:spPr>
          <a:xfrm>
            <a:off x="34747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Quanto tempo perdem</a:t>
            </a:r>
            <a:endParaRPr lang="en-US" sz="1400" dirty="0"/>
          </a:p>
        </p:txBody>
      </p:sp>
      <p:sp>
        <p:nvSpPr>
          <p:cNvPr id="12" name="Citação 2"/>
          <p:cNvSpPr txBox="1"/>
          <p:nvPr/>
        </p:nvSpPr>
        <p:spPr>
          <a:xfrm>
            <a:off x="347472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As meninas da recepção passam o dia todo a fazer isso para todos os alunos.</a:t>
            </a:r>
            <a:endParaRPr lang="en-US" sz="1400" dirty="0"/>
          </a:p>
        </p:txBody>
      </p:sp>
      <p:sp>
        <p:nvSpPr>
          <p:cNvPr id="13" name="Cartão citação 3"/>
          <p:cNvSpPr/>
          <p:nvPr/>
        </p:nvSpPr>
        <p:spPr>
          <a:xfrm>
            <a:off x="6126480" y="146304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Aspas 3"/>
          <p:cNvSpPr txBox="1"/>
          <p:nvPr/>
        </p:nvSpPr>
        <p:spPr>
          <a:xfrm>
            <a:off x="6309360" y="1554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“</a:t>
            </a:r>
            <a:endParaRPr lang="en-US" sz="5400" dirty="0"/>
          </a:p>
        </p:txBody>
      </p:sp>
      <p:sp>
        <p:nvSpPr>
          <p:cNvPr id="15" name="Tema 3"/>
          <p:cNvSpPr txBox="1"/>
          <p:nvPr/>
        </p:nvSpPr>
        <p:spPr>
          <a:xfrm>
            <a:off x="63093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que mudaria</a:t>
            </a:r>
            <a:endParaRPr lang="en-US" sz="1400" dirty="0"/>
          </a:p>
        </p:txBody>
      </p:sp>
      <p:sp>
        <p:nvSpPr>
          <p:cNvPr id="16" name="Citação 3"/>
          <p:cNvSpPr txBox="1"/>
          <p:nvPr/>
        </p:nvSpPr>
        <p:spPr>
          <a:xfrm>
            <a:off x="630936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Acho que é um trabalho que não precisa de um intermédio humano, poderia ser totalmente automatizado.</a:t>
            </a:r>
            <a:endParaRPr lang="en-US" sz="1400" dirty="0"/>
          </a:p>
        </p:txBody>
      </p:sp>
      <p:sp>
        <p:nvSpPr>
          <p:cNvPr id="17" name="Faixa Excel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Ícone tabela (círculo)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Ícone tabela" descr="Ícone tabe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274820"/>
            <a:ext cx="228600" cy="228600"/>
          </a:xfrm>
          <a:prstGeom prst="rect">
            <a:avLst/>
          </a:prstGeom>
        </p:spPr>
      </p:pic>
      <p:sp>
        <p:nvSpPr>
          <p:cNvPr id="20" name="Texto Excel"/>
          <p:cNvSpPr txBox="1"/>
          <p:nvPr/>
        </p:nvSpPr>
        <p:spPr>
          <a:xfrm>
            <a:off x="123444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Hoje, os horários dos instrutores estão numa tabela Excel e as aulas marcadas noutra.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a secção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</a:rPr>
              <a:t>02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 solução: o aluno marca sozinho</a:t>
            </a:r>
            <a:endParaRPr lang="en-US" sz="3400" dirty="0"/>
          </a:p>
        </p:txBody>
      </p:sp>
      <p:sp>
        <p:nvSpPr>
          <p:cNvPr id="4" name="Cartão proposta"/>
          <p:cNvSpPr/>
          <p:nvPr/>
        </p:nvSpPr>
        <p:spPr>
          <a:xfrm>
            <a:off x="457200" y="1188720"/>
            <a:ext cx="8229600" cy="1417320"/>
          </a:xfrm>
          <a:prstGeom prst="roundRect">
            <a:avLst>
              <a:gd name="adj" fmla="val 645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Proposta de valor"/>
          <p:cNvSpPr txBox="1"/>
          <p:nvPr/>
        </p:nvSpPr>
        <p:spPr>
          <a:xfrm>
            <a:off x="685800" y="128016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Para as </a:t>
            </a:r>
            <a:r>
              <a:rPr lang="en-US" sz="1500" b="1" dirty="0">
                <a:solidFill>
                  <a:schemeClr val="tx1"/>
                </a:solidFill>
              </a:rPr>
              <a:t>escolas de condução</a:t>
            </a:r>
            <a:r>
              <a:rPr lang="en-US" sz="1500" dirty="0">
                <a:solidFill>
                  <a:schemeClr val="tx1"/>
                </a:solidFill>
              </a:rPr>
              <a:t>, que perdem tempo a verificar a disponibilidade dos instrutores dia a dia, o </a:t>
            </a:r>
            <a:r>
              <a:rPr lang="en-US" sz="1500" b="1" dirty="0">
                <a:solidFill>
                  <a:schemeClr val="tx1"/>
                </a:solidFill>
              </a:rPr>
              <a:t>SelfBook</a:t>
            </a:r>
            <a:r>
              <a:rPr lang="en-US" sz="1500" dirty="0">
                <a:solidFill>
                  <a:schemeClr val="tx1"/>
                </a:solidFill>
              </a:rPr>
              <a:t> permite que o aluno consulte os horários de todos os instrutores e marque a aula sozinho, de forma automática, em vez de a recepcionista confirmar disponibilidades uma a uma.</a:t>
            </a:r>
            <a:endParaRPr lang="en-US" sz="1500" dirty="0"/>
          </a:p>
        </p:txBody>
      </p:sp>
      <p:sp>
        <p:nvSpPr>
          <p:cNvPr id="6" name="Cartão antes"/>
          <p:cNvSpPr/>
          <p:nvPr/>
        </p:nvSpPr>
        <p:spPr>
          <a:xfrm>
            <a:off x="457200" y="2834640"/>
            <a:ext cx="35661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Rótulo antes"/>
          <p:cNvSpPr txBox="1"/>
          <p:nvPr/>
        </p:nvSpPr>
        <p:spPr>
          <a:xfrm>
            <a:off x="64008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Antes</a:t>
            </a:r>
            <a:endParaRPr lang="en-US" sz="1400" dirty="0"/>
          </a:p>
        </p:txBody>
      </p:sp>
      <p:sp>
        <p:nvSpPr>
          <p:cNvPr id="8" name="Texto antes"/>
          <p:cNvSpPr txBox="1"/>
          <p:nvPr/>
        </p:nvSpPr>
        <p:spPr>
          <a:xfrm>
            <a:off x="640080" y="3246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recepcionista confirma as disponibilidades uma a uma.</a:t>
            </a:r>
            <a:endParaRPr lang="en-US" sz="1400" dirty="0"/>
          </a:p>
        </p:txBody>
      </p:sp>
      <p:sp>
        <p:nvSpPr>
          <p:cNvPr id="9" name="Seta"/>
          <p:cNvSpPr/>
          <p:nvPr/>
        </p:nvSpPr>
        <p:spPr>
          <a:xfrm>
            <a:off x="4160520" y="3108960"/>
            <a:ext cx="822960" cy="54864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Cartão depois"/>
          <p:cNvSpPr/>
          <p:nvPr/>
        </p:nvSpPr>
        <p:spPr>
          <a:xfrm>
            <a:off x="5120640" y="2834640"/>
            <a:ext cx="356616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Rótulo depois"/>
          <p:cNvSpPr txBox="1"/>
          <p:nvPr/>
        </p:nvSpPr>
        <p:spPr>
          <a:xfrm>
            <a:off x="53035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Com o SelfBook</a:t>
            </a:r>
            <a:endParaRPr lang="en-US" sz="1400" dirty="0"/>
          </a:p>
        </p:txBody>
      </p:sp>
      <p:sp>
        <p:nvSpPr>
          <p:cNvPr id="12" name="Texto depois"/>
          <p:cNvSpPr txBox="1"/>
          <p:nvPr/>
        </p:nvSpPr>
        <p:spPr>
          <a:xfrm>
            <a:off x="5303520" y="3246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 aluno vê todos os instrutores e marca sozinho.</a:t>
            </a:r>
            <a:endParaRPr lang="en-US" sz="1400" dirty="0"/>
          </a:p>
        </p:txBody>
      </p:sp>
      <p:sp>
        <p:nvSpPr>
          <p:cNvPr id="13" name="Etiqueta B2B2C"/>
          <p:cNvSpPr/>
          <p:nvPr/>
        </p:nvSpPr>
        <p:spPr>
          <a:xfrm>
            <a:off x="457200" y="4160520"/>
            <a:ext cx="100584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B2B2C</a:t>
            </a:r>
            <a:endParaRPr lang="en-US" sz="1400" dirty="0"/>
          </a:p>
        </p:txBody>
      </p:sp>
      <p:sp>
        <p:nvSpPr>
          <p:cNvPr id="14" name="Texto B2B2C"/>
          <p:cNvSpPr txBox="1"/>
          <p:nvPr/>
        </p:nvSpPr>
        <p:spPr>
          <a:xfrm>
            <a:off x="1645920" y="4114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escola corta gastos desnecessários; o aluno marca com muito mais agilidade.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a secção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</a:rPr>
              <a:t>03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Objetivos que se podem medir</a:t>
            </a:r>
            <a:endParaRPr lang="en-US" sz="3400" dirty="0"/>
          </a:p>
        </p:txBody>
      </p:sp>
      <p:sp>
        <p:nvSpPr>
          <p:cNvPr id="4" name="Cartão objetivo 1"/>
          <p:cNvSpPr/>
          <p:nvPr/>
        </p:nvSpPr>
        <p:spPr>
          <a:xfrm>
            <a:off x="457200" y="118872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Meta 1"/>
          <p:cNvSpPr txBox="1"/>
          <p:nvPr/>
        </p:nvSpPr>
        <p:spPr>
          <a:xfrm>
            <a:off x="640080" y="12984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6" name="Descrição meta 1"/>
          <p:cNvSpPr txBox="1"/>
          <p:nvPr/>
        </p:nvSpPr>
        <p:spPr>
          <a:xfrm>
            <a:off x="640080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intervenções da recepção numa marcação</a:t>
            </a:r>
            <a:endParaRPr lang="en-US" sz="1400" dirty="0"/>
          </a:p>
        </p:txBody>
      </p:sp>
      <p:sp>
        <p:nvSpPr>
          <p:cNvPr id="7" name="Cartão objetivo 2"/>
          <p:cNvSpPr/>
          <p:nvPr/>
        </p:nvSpPr>
        <p:spPr>
          <a:xfrm>
            <a:off x="3200400" y="118872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Meta 2"/>
          <p:cNvSpPr txBox="1"/>
          <p:nvPr/>
        </p:nvSpPr>
        <p:spPr>
          <a:xfrm>
            <a:off x="3383280" y="12984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Descrição meta 2"/>
          <p:cNvSpPr txBox="1"/>
          <p:nvPr/>
        </p:nvSpPr>
        <p:spPr>
          <a:xfrm>
            <a:off x="3383280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ecrã com todos os instrutores</a:t>
            </a:r>
            <a:endParaRPr lang="en-US" sz="1400" dirty="0"/>
          </a:p>
        </p:txBody>
      </p:sp>
      <p:sp>
        <p:nvSpPr>
          <p:cNvPr id="10" name="Cartão objetivo 3"/>
          <p:cNvSpPr/>
          <p:nvPr/>
        </p:nvSpPr>
        <p:spPr>
          <a:xfrm>
            <a:off x="457200" y="297180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Meta 3"/>
          <p:cNvSpPr txBox="1"/>
          <p:nvPr/>
        </p:nvSpPr>
        <p:spPr>
          <a:xfrm>
            <a:off x="640080" y="3081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&lt; 2 min</a:t>
            </a:r>
            <a:endParaRPr lang="en-US" sz="3600" dirty="0"/>
          </a:p>
        </p:txBody>
      </p:sp>
      <p:sp>
        <p:nvSpPr>
          <p:cNvPr id="12" name="Descrição meta 3"/>
          <p:cNvSpPr txBox="1"/>
          <p:nvPr/>
        </p:nvSpPr>
        <p:spPr>
          <a:xfrm>
            <a:off x="640080" y="3749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para completar uma marcação</a:t>
            </a:r>
            <a:endParaRPr lang="en-US" sz="1400" dirty="0"/>
          </a:p>
        </p:txBody>
      </p:sp>
      <p:sp>
        <p:nvSpPr>
          <p:cNvPr id="13" name="Cartão objetivo 4"/>
          <p:cNvSpPr/>
          <p:nvPr/>
        </p:nvSpPr>
        <p:spPr>
          <a:xfrm>
            <a:off x="3200400" y="297180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Meta 4"/>
          <p:cNvSpPr txBox="1"/>
          <p:nvPr/>
        </p:nvSpPr>
        <p:spPr>
          <a:xfrm>
            <a:off x="3383280" y="3081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15" name="Descrição meta 4"/>
          <p:cNvSpPr txBox="1"/>
          <p:nvPr/>
        </p:nvSpPr>
        <p:spPr>
          <a:xfrm>
            <a:off x="3383280" y="3749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ações da escola: criar, editar, remover horários</a:t>
            </a:r>
            <a:endParaRPr lang="en-US" sz="1400" dirty="0"/>
          </a:p>
        </p:txBody>
      </p:sp>
      <p:sp>
        <p:nvSpPr>
          <p:cNvPr id="16" name="Painel âmbito"/>
          <p:cNvSpPr/>
          <p:nvPr/>
        </p:nvSpPr>
        <p:spPr>
          <a:xfrm>
            <a:off x="5943600" y="1188720"/>
            <a:ext cx="2743200" cy="1965960"/>
          </a:xfrm>
          <a:prstGeom prst="roundRect">
            <a:avLst>
              <a:gd name="adj" fmla="val 465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Cabeçalho âmbito"/>
          <p:cNvSpPr txBox="1"/>
          <p:nvPr/>
        </p:nvSpPr>
        <p:spPr>
          <a:xfrm>
            <a:off x="61264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Dentro do âmbito</a:t>
            </a:r>
            <a:endParaRPr lang="en-US" sz="1600" dirty="0"/>
          </a:p>
        </p:txBody>
      </p:sp>
      <p:sp>
        <p:nvSpPr>
          <p:cNvPr id="18" name="Lista âmbito"/>
          <p:cNvSpPr txBox="1"/>
          <p:nvPr/>
        </p:nvSpPr>
        <p:spPr>
          <a:xfrm>
            <a:off x="6126480" y="16459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Horários de uma só escola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Marcação automática pelo aluno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Percurso do aluno, se houver tempo</a:t>
            </a:r>
            <a:endParaRPr lang="en-US" sz="1400" dirty="0"/>
          </a:p>
        </p:txBody>
      </p:sp>
      <p:sp>
        <p:nvSpPr>
          <p:cNvPr id="19" name="Painel fora"/>
          <p:cNvSpPr/>
          <p:nvPr/>
        </p:nvSpPr>
        <p:spPr>
          <a:xfrm>
            <a:off x="5943600" y="3291840"/>
            <a:ext cx="2743200" cy="1280160"/>
          </a:xfrm>
          <a:prstGeom prst="roundRect">
            <a:avLst>
              <a:gd name="adj" fmla="val 7143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Cabeçalho fora"/>
          <p:cNvSpPr txBox="1"/>
          <p:nvPr/>
        </p:nvSpPr>
        <p:spPr>
          <a:xfrm>
            <a:off x="612648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Fora desta versão</a:t>
            </a:r>
            <a:endParaRPr lang="en-US" sz="1600" dirty="0"/>
          </a:p>
        </p:txBody>
      </p:sp>
      <p:sp>
        <p:nvSpPr>
          <p:cNvPr id="21" name="Lista fora"/>
          <p:cNvSpPr txBox="1"/>
          <p:nvPr/>
        </p:nvSpPr>
        <p:spPr>
          <a:xfrm>
            <a:off x="6126480" y="3749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Pagamentos na aplicação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 móvel nativa e multi-escola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a secção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</a:rPr>
              <a:t>04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Requisitos: o essencial primeiro</a:t>
            </a:r>
            <a:endParaRPr lang="en-US" sz="3400" dirty="0"/>
          </a:p>
        </p:txBody>
      </p:sp>
      <p:sp>
        <p:nvSpPr>
          <p:cNvPr id="4" name="Bloco Must"/>
          <p:cNvSpPr/>
          <p:nvPr/>
        </p:nvSpPr>
        <p:spPr>
          <a:xfrm>
            <a:off x="457200" y="1188720"/>
            <a:ext cx="8229600" cy="1645920"/>
          </a:xfrm>
          <a:prstGeom prst="roundRect">
            <a:avLst>
              <a:gd name="adj" fmla="val 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Cabeçalho Must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Essencial (Must)</a:t>
            </a:r>
            <a:endParaRPr lang="en-US" sz="1600" dirty="0"/>
          </a:p>
        </p:txBody>
      </p:sp>
      <p:sp>
        <p:nvSpPr>
          <p:cNvPr id="6" name="Código R1"/>
          <p:cNvSpPr txBox="1"/>
          <p:nvPr/>
        </p:nvSpPr>
        <p:spPr>
          <a:xfrm>
            <a:off x="64008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R1</a:t>
            </a:r>
            <a:endParaRPr lang="en-US" sz="1400" dirty="0"/>
          </a:p>
        </p:txBody>
      </p:sp>
      <p:sp>
        <p:nvSpPr>
          <p:cNvPr id="7" name="Requisito R1"/>
          <p:cNvSpPr txBox="1"/>
          <p:nvPr/>
        </p:nvSpPr>
        <p:spPr>
          <a:xfrm>
            <a:off x="64008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 escola define e edita os horários de cada instrutor</a:t>
            </a:r>
            <a:endParaRPr lang="en-US" sz="1400" dirty="0"/>
          </a:p>
        </p:txBody>
      </p:sp>
      <p:sp>
        <p:nvSpPr>
          <p:cNvPr id="8" name="Código R2"/>
          <p:cNvSpPr txBox="1"/>
          <p:nvPr/>
        </p:nvSpPr>
        <p:spPr>
          <a:xfrm>
            <a:off x="329184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R2</a:t>
            </a:r>
            <a:endParaRPr lang="en-US" sz="1400" dirty="0"/>
          </a:p>
        </p:txBody>
      </p:sp>
      <p:sp>
        <p:nvSpPr>
          <p:cNvPr id="9" name="Requisito R2"/>
          <p:cNvSpPr txBox="1"/>
          <p:nvPr/>
        </p:nvSpPr>
        <p:spPr>
          <a:xfrm>
            <a:off x="329184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 aluno consulta a disponibilidade de todos os instrutores</a:t>
            </a:r>
            <a:endParaRPr lang="en-US" sz="1400" dirty="0"/>
          </a:p>
        </p:txBody>
      </p:sp>
      <p:sp>
        <p:nvSpPr>
          <p:cNvPr id="10" name="Código R3"/>
          <p:cNvSpPr txBox="1"/>
          <p:nvPr/>
        </p:nvSpPr>
        <p:spPr>
          <a:xfrm>
            <a:off x="594360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R3</a:t>
            </a:r>
            <a:endParaRPr lang="en-US" sz="1400" dirty="0"/>
          </a:p>
        </p:txBody>
      </p:sp>
      <p:sp>
        <p:nvSpPr>
          <p:cNvPr id="11" name="Requisito R3"/>
          <p:cNvSpPr txBox="1"/>
          <p:nvPr/>
        </p:nvSpPr>
        <p:spPr>
          <a:xfrm>
            <a:off x="594360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 aluno escolhe um horário livre e marca, sem a recepção</a:t>
            </a:r>
            <a:endParaRPr lang="en-US" sz="1400" dirty="0"/>
          </a:p>
        </p:txBody>
      </p:sp>
      <p:sp>
        <p:nvSpPr>
          <p:cNvPr id="12" name="Bloco Desejável (Should)"/>
          <p:cNvSpPr/>
          <p:nvPr/>
        </p:nvSpPr>
        <p:spPr>
          <a:xfrm>
            <a:off x="457200" y="297180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Cabeçalho Desejável (Should)"/>
          <p:cNvSpPr txBox="1"/>
          <p:nvPr/>
        </p:nvSpPr>
        <p:spPr>
          <a:xfrm>
            <a:off x="64008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Desejável (Should)</a:t>
            </a:r>
            <a:endParaRPr lang="en-US" sz="1400" dirty="0"/>
          </a:p>
        </p:txBody>
      </p:sp>
      <p:sp>
        <p:nvSpPr>
          <p:cNvPr id="14" name="Requisito Desejável (Should)"/>
          <p:cNvSpPr txBox="1"/>
          <p:nvPr/>
        </p:nvSpPr>
        <p:spPr>
          <a:xfrm>
            <a:off x="64008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R4 · Percurso: aulas feitas e em falta</a:t>
            </a:r>
            <a:endParaRPr lang="en-US" sz="1400" dirty="0"/>
          </a:p>
        </p:txBody>
      </p:sp>
      <p:sp>
        <p:nvSpPr>
          <p:cNvPr id="15" name="Bloco Opcional (Could)"/>
          <p:cNvSpPr/>
          <p:nvPr/>
        </p:nvSpPr>
        <p:spPr>
          <a:xfrm>
            <a:off x="3291840" y="297180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Cabeçalho Opcional (Could)"/>
          <p:cNvSpPr txBox="1"/>
          <p:nvPr/>
        </p:nvSpPr>
        <p:spPr>
          <a:xfrm>
            <a:off x="34747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Opcional (Could)</a:t>
            </a:r>
            <a:endParaRPr lang="en-US" sz="1400" dirty="0"/>
          </a:p>
        </p:txBody>
      </p:sp>
      <p:sp>
        <p:nvSpPr>
          <p:cNvPr id="17" name="Requisito Opcional (Could)"/>
          <p:cNvSpPr txBox="1"/>
          <p:nvPr/>
        </p:nvSpPr>
        <p:spPr>
          <a:xfrm>
            <a:off x="34747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R5 · Feedback sobre cada aula</a:t>
            </a:r>
            <a:endParaRPr lang="en-US" sz="1400" dirty="0"/>
          </a:p>
        </p:txBody>
      </p:sp>
      <p:sp>
        <p:nvSpPr>
          <p:cNvPr id="18" name="Bloco Fora desta versão"/>
          <p:cNvSpPr/>
          <p:nvPr/>
        </p:nvSpPr>
        <p:spPr>
          <a:xfrm>
            <a:off x="6126480" y="297180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Cabeçalho Fora desta versão"/>
          <p:cNvSpPr txBox="1"/>
          <p:nvPr/>
        </p:nvSpPr>
        <p:spPr>
          <a:xfrm>
            <a:off x="630936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Fora desta versão</a:t>
            </a:r>
            <a:endParaRPr lang="en-US" sz="1400" dirty="0"/>
          </a:p>
        </p:txBody>
      </p:sp>
      <p:sp>
        <p:nvSpPr>
          <p:cNvPr id="20" name="Requisito Fora desta versão"/>
          <p:cNvSpPr txBox="1"/>
          <p:nvPr/>
        </p:nvSpPr>
        <p:spPr>
          <a:xfrm>
            <a:off x="630936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R6 · Pagamento na aplicação</a:t>
            </a:r>
            <a:endParaRPr lang="en-US" sz="1400" dirty="0"/>
          </a:p>
        </p:txBody>
      </p:sp>
      <p:sp>
        <p:nvSpPr>
          <p:cNvPr id="21" name="Faixa qualidade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Qualidade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Qualidade: </a:t>
            </a:r>
            <a:r>
              <a:rPr lang="en-US" sz="1400" dirty="0">
                <a:solidFill>
                  <a:schemeClr val="tx1"/>
                </a:solidFill>
              </a:rPr>
              <a:t>lista de horários em menos de 3 s · nenhum horário marcado duas vezes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a secção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</a:rPr>
              <a:t>04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Quem usa, decide e sente</a:t>
            </a:r>
            <a:endParaRPr lang="en-US" sz="3400" dirty="0"/>
          </a:p>
        </p:txBody>
      </p:sp>
      <p:sp>
        <p:nvSpPr>
          <p:cNvPr id="4" name="Cartão Usam"/>
          <p:cNvSpPr/>
          <p:nvPr/>
        </p:nvSpPr>
        <p:spPr>
          <a:xfrm>
            <a:off x="457200" y="118872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Ícone Usam (círculo)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6" name="Ícone Usam" descr="Ícone Us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85900"/>
            <a:ext cx="320040" cy="320040"/>
          </a:xfrm>
          <a:prstGeom prst="rect">
            <a:avLst/>
          </a:prstGeom>
        </p:spPr>
      </p:pic>
      <p:sp>
        <p:nvSpPr>
          <p:cNvPr id="7" name="Grupo Usam"/>
          <p:cNvSpPr txBox="1"/>
          <p:nvPr/>
        </p:nvSpPr>
        <p:spPr>
          <a:xfrm>
            <a:off x="64008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Usam</a:t>
            </a:r>
            <a:endParaRPr lang="en-US" sz="1800" dirty="0"/>
          </a:p>
        </p:txBody>
      </p:sp>
      <p:sp>
        <p:nvSpPr>
          <p:cNvPr id="8" name="Quem Usam"/>
          <p:cNvSpPr txBox="1"/>
          <p:nvPr/>
        </p:nvSpPr>
        <p:spPr>
          <a:xfrm>
            <a:off x="64008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Alunos, </a:t>
            </a:r>
            <a:r>
              <a:rPr lang="en-US" sz="1400" b="1" dirty="0" err="1"/>
              <a:t>Administração</a:t>
            </a:r>
            <a:r>
              <a:rPr lang="en-US" sz="1400" b="1" dirty="0"/>
              <a:t> da </a:t>
            </a:r>
            <a:r>
              <a:rPr lang="en-US" sz="1400" b="1" dirty="0" err="1"/>
              <a:t>escola</a:t>
            </a:r>
            <a:endParaRPr lang="en-US" sz="1400" dirty="0"/>
          </a:p>
        </p:txBody>
      </p:sp>
      <p:sp>
        <p:nvSpPr>
          <p:cNvPr id="9" name="Papel Usam"/>
          <p:cNvSpPr txBox="1"/>
          <p:nvPr/>
        </p:nvSpPr>
        <p:spPr>
          <a:xfrm>
            <a:off x="6400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Alunos marcam; a </a:t>
            </a:r>
            <a:r>
              <a:rPr lang="en-US" sz="1400" dirty="0" err="1">
                <a:solidFill>
                  <a:schemeClr val="tx1"/>
                </a:solidFill>
              </a:rPr>
              <a:t>administração</a:t>
            </a:r>
            <a:r>
              <a:rPr lang="en-US" sz="1400" dirty="0">
                <a:solidFill>
                  <a:schemeClr val="tx1"/>
                </a:solidFill>
              </a:rPr>
              <a:t> gere horários; os instrutores têm a disponibilidade registada.</a:t>
            </a:r>
            <a:endParaRPr lang="en-US" sz="1400" dirty="0"/>
          </a:p>
        </p:txBody>
      </p:sp>
      <p:sp>
        <p:nvSpPr>
          <p:cNvPr id="10" name="Cartão Decidem"/>
          <p:cNvSpPr/>
          <p:nvPr/>
        </p:nvSpPr>
        <p:spPr>
          <a:xfrm>
            <a:off x="3291840" y="118872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Ícone Decidem (círculo)"/>
          <p:cNvSpPr/>
          <p:nvPr/>
        </p:nvSpPr>
        <p:spPr>
          <a:xfrm>
            <a:off x="347472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2" name="Ícone Decidem" descr="Ícone Decid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1485900"/>
            <a:ext cx="320040" cy="320040"/>
          </a:xfrm>
          <a:prstGeom prst="rect">
            <a:avLst/>
          </a:prstGeom>
        </p:spPr>
      </p:pic>
      <p:sp>
        <p:nvSpPr>
          <p:cNvPr id="13" name="Grupo Decidem"/>
          <p:cNvSpPr txBox="1"/>
          <p:nvPr/>
        </p:nvSpPr>
        <p:spPr>
          <a:xfrm>
            <a:off x="347472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Decidem</a:t>
            </a:r>
            <a:endParaRPr lang="en-US" sz="1800" dirty="0"/>
          </a:p>
        </p:txBody>
      </p:sp>
      <p:sp>
        <p:nvSpPr>
          <p:cNvPr id="14" name="Quem Decidem"/>
          <p:cNvSpPr txBox="1"/>
          <p:nvPr/>
        </p:nvSpPr>
        <p:spPr>
          <a:xfrm>
            <a:off x="347472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Direção da escola</a:t>
            </a:r>
            <a:endParaRPr lang="en-US" sz="1400" dirty="0"/>
          </a:p>
        </p:txBody>
      </p:sp>
      <p:sp>
        <p:nvSpPr>
          <p:cNvPr id="15" name="Papel Decidem"/>
          <p:cNvSpPr txBox="1"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Aprova o uso do sistema e o que se guarda sobre os alunos.</a:t>
            </a:r>
            <a:endParaRPr lang="en-US" sz="1400" dirty="0"/>
          </a:p>
        </p:txBody>
      </p:sp>
      <p:sp>
        <p:nvSpPr>
          <p:cNvPr id="16" name="Cartão Sentem os efeitos"/>
          <p:cNvSpPr/>
          <p:nvPr/>
        </p:nvSpPr>
        <p:spPr>
          <a:xfrm>
            <a:off x="6126480" y="118872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Ícone Sentem os efeitos (círculo)"/>
          <p:cNvSpPr/>
          <p:nvPr/>
        </p:nvSpPr>
        <p:spPr>
          <a:xfrm>
            <a:off x="630936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8" name="Ícone Sentem os efeitos" descr="Ícone Sentem os efeito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1485900"/>
            <a:ext cx="320040" cy="320040"/>
          </a:xfrm>
          <a:prstGeom prst="rect">
            <a:avLst/>
          </a:prstGeom>
        </p:spPr>
      </p:pic>
      <p:sp>
        <p:nvSpPr>
          <p:cNvPr id="19" name="Grupo Sentem os efeitos"/>
          <p:cNvSpPr txBox="1"/>
          <p:nvPr/>
        </p:nvSpPr>
        <p:spPr>
          <a:xfrm>
            <a:off x="630936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Sentem os efeitos</a:t>
            </a:r>
            <a:endParaRPr lang="en-US" sz="1800" dirty="0"/>
          </a:p>
        </p:txBody>
      </p:sp>
      <p:sp>
        <p:nvSpPr>
          <p:cNvPr id="20" name="Quem Sentem os efeitos"/>
          <p:cNvSpPr txBox="1"/>
          <p:nvPr/>
        </p:nvSpPr>
        <p:spPr>
          <a:xfrm>
            <a:off x="630936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escola e os alunos</a:t>
            </a:r>
            <a:endParaRPr lang="en-US" sz="1400" dirty="0"/>
          </a:p>
        </p:txBody>
      </p:sp>
      <p:sp>
        <p:nvSpPr>
          <p:cNvPr id="21" name="Papel Sentem os efeitos"/>
          <p:cNvSpPr txBox="1"/>
          <p:nvPr/>
        </p:nvSpPr>
        <p:spPr>
          <a:xfrm>
            <a:off x="63093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escola </a:t>
            </a:r>
            <a:r>
              <a:rPr lang="en-US" sz="1400" dirty="0" err="1">
                <a:solidFill>
                  <a:schemeClr val="tx1"/>
                </a:solidFill>
              </a:rPr>
              <a:t>dispensa</a:t>
            </a:r>
            <a:r>
              <a:rPr lang="en-US" sz="1400" dirty="0">
                <a:solidFill>
                  <a:schemeClr val="tx1"/>
                </a:solidFill>
              </a:rPr>
              <a:t> a </a:t>
            </a:r>
            <a:r>
              <a:rPr lang="en-US" sz="1400" dirty="0" err="1">
                <a:solidFill>
                  <a:schemeClr val="tx1"/>
                </a:solidFill>
              </a:rPr>
              <a:t>função</a:t>
            </a:r>
            <a:r>
              <a:rPr lang="en-US" sz="1400" dirty="0">
                <a:solidFill>
                  <a:schemeClr val="tx1"/>
                </a:solidFill>
              </a:rPr>
              <a:t> de </a:t>
            </a:r>
            <a:r>
              <a:rPr lang="en-US" sz="1400" dirty="0" err="1">
                <a:solidFill>
                  <a:schemeClr val="tx1"/>
                </a:solidFill>
              </a:rPr>
              <a:t>marcar</a:t>
            </a:r>
            <a:r>
              <a:rPr lang="en-US" sz="1400" dirty="0">
                <a:solidFill>
                  <a:schemeClr val="tx1"/>
                </a:solidFill>
              </a:rPr>
              <a:t> aulas; o </a:t>
            </a:r>
            <a:r>
              <a:rPr lang="en-US" sz="1400" dirty="0" err="1">
                <a:solidFill>
                  <a:schemeClr val="tx1"/>
                </a:solidFill>
              </a:rPr>
              <a:t>aluno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não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precisa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dar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toda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/>
              <a:t>sua</a:t>
            </a:r>
            <a:r>
              <a:rPr lang="en-US" sz="1400" dirty="0">
                <a:solidFill>
                  <a:schemeClr val="tx1"/>
                </a:solidFill>
              </a:rPr>
              <a:t> disponibilidade.</a:t>
            </a:r>
            <a:endParaRPr lang="en-US" sz="1400" dirty="0"/>
          </a:p>
        </p:txBody>
      </p:sp>
      <p:sp>
        <p:nvSpPr>
          <p:cNvPr id="22" name="Faixa consequência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Consequência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Consequência: </a:t>
            </a:r>
            <a:r>
              <a:rPr lang="en-US" sz="1400" dirty="0">
                <a:solidFill>
                  <a:schemeClr val="bg1"/>
                </a:solidFill>
              </a:rPr>
              <a:t>perfis diferentes, permissões diferentes. O aluno só marca e consulta; a escola gere horários.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a secção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</a:rPr>
              <a:t>05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Equipa e tecnologias</a:t>
            </a:r>
            <a:endParaRPr lang="en-US" sz="3400" dirty="0"/>
          </a:p>
        </p:txBody>
      </p:sp>
      <p:sp>
        <p:nvSpPr>
          <p:cNvPr id="4" name="Rótulo equipa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Distribuição</a:t>
            </a:r>
            <a:r>
              <a:rPr lang="en-US" sz="1600" b="1" dirty="0">
                <a:solidFill>
                  <a:schemeClr val="tx2"/>
                </a:solidFill>
              </a:rPr>
              <a:t> do </a:t>
            </a:r>
            <a:r>
              <a:rPr lang="en-US" sz="1600" b="1" dirty="0" err="1">
                <a:solidFill>
                  <a:schemeClr val="tx2"/>
                </a:solidFill>
              </a:rPr>
              <a:t>trabalho</a:t>
            </a:r>
            <a:r>
              <a:rPr lang="en-US" sz="1600" b="1" dirty="0">
                <a:solidFill>
                  <a:schemeClr val="tx2"/>
                </a:solidFill>
              </a:rPr>
              <a:t> (pode mudar)</a:t>
            </a:r>
            <a:endParaRPr lang="en-US" sz="1600" dirty="0"/>
          </a:p>
        </p:txBody>
      </p:sp>
      <p:sp>
        <p:nvSpPr>
          <p:cNvPr id="5" name="Cartão Karinne"/>
          <p:cNvSpPr/>
          <p:nvPr/>
        </p:nvSpPr>
        <p:spPr>
          <a:xfrm>
            <a:off x="457200" y="1600200"/>
            <a:ext cx="39319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Inicial Karinne"/>
          <p:cNvSpPr/>
          <p:nvPr/>
        </p:nvSpPr>
        <p:spPr>
          <a:xfrm>
            <a:off x="640080" y="184708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/>
                </a:solidFill>
              </a:rPr>
              <a:t>K</a:t>
            </a:r>
            <a:endParaRPr lang="en-US" sz="2200" dirty="0"/>
          </a:p>
        </p:txBody>
      </p:sp>
      <p:sp>
        <p:nvSpPr>
          <p:cNvPr id="7" name="Nome Karinne"/>
          <p:cNvSpPr txBox="1"/>
          <p:nvPr/>
        </p:nvSpPr>
        <p:spPr>
          <a:xfrm>
            <a:off x="14630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Karinne Abreu</a:t>
            </a:r>
            <a:endParaRPr lang="en-US" sz="1800" dirty="0"/>
          </a:p>
        </p:txBody>
      </p:sp>
      <p:sp>
        <p:nvSpPr>
          <p:cNvPr id="8" name="Papel Karinne"/>
          <p:cNvSpPr txBox="1"/>
          <p:nvPr/>
        </p:nvSpPr>
        <p:spPr>
          <a:xfrm>
            <a:off x="146304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Layouts, frontend e relatório</a:t>
            </a:r>
            <a:endParaRPr lang="en-US" sz="1400" dirty="0"/>
          </a:p>
        </p:txBody>
      </p:sp>
      <p:sp>
        <p:nvSpPr>
          <p:cNvPr id="9" name="Cartão Sarah"/>
          <p:cNvSpPr/>
          <p:nvPr/>
        </p:nvSpPr>
        <p:spPr>
          <a:xfrm>
            <a:off x="457200" y="2926080"/>
            <a:ext cx="39319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Inicial Sarah"/>
          <p:cNvSpPr/>
          <p:nvPr/>
        </p:nvSpPr>
        <p:spPr>
          <a:xfrm>
            <a:off x="640080" y="31729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/>
                </a:solidFill>
              </a:rPr>
              <a:t>S</a:t>
            </a:r>
            <a:endParaRPr lang="en-US" sz="2200" dirty="0"/>
          </a:p>
        </p:txBody>
      </p:sp>
      <p:sp>
        <p:nvSpPr>
          <p:cNvPr id="11" name="Nome Sarah"/>
          <p:cNvSpPr txBox="1"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Sarah Fontes</a:t>
            </a:r>
            <a:endParaRPr lang="en-US" sz="1800" dirty="0"/>
          </a:p>
        </p:txBody>
      </p:sp>
      <p:sp>
        <p:nvSpPr>
          <p:cNvPr id="12" name="Papel Sarah"/>
          <p:cNvSpPr txBox="1"/>
          <p:nvPr/>
        </p:nvSpPr>
        <p:spPr>
          <a:xfrm>
            <a:off x="146304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Base de dados e backend</a:t>
            </a:r>
            <a:endParaRPr lang="en-US" sz="1400" dirty="0"/>
          </a:p>
        </p:txBody>
      </p:sp>
      <p:sp>
        <p:nvSpPr>
          <p:cNvPr id="13" name="Rótulo tecnologias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Tecnologias (podem mudar)</a:t>
            </a:r>
            <a:endParaRPr lang="en-US" sz="1600" dirty="0"/>
          </a:p>
        </p:txBody>
      </p:sp>
      <p:sp>
        <p:nvSpPr>
          <p:cNvPr id="14" name="Linha Frontend"/>
          <p:cNvSpPr/>
          <p:nvPr/>
        </p:nvSpPr>
        <p:spPr>
          <a:xfrm>
            <a:off x="4663440" y="1600200"/>
            <a:ext cx="402336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Camada Frontend"/>
          <p:cNvSpPr txBox="1"/>
          <p:nvPr/>
        </p:nvSpPr>
        <p:spPr>
          <a:xfrm>
            <a:off x="484632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</a:t>
            </a:r>
            <a:endParaRPr lang="en-US" sz="1400" dirty="0"/>
          </a:p>
        </p:txBody>
      </p:sp>
      <p:sp>
        <p:nvSpPr>
          <p:cNvPr id="16" name="Tecnologia Frontend"/>
          <p:cNvSpPr txBox="1"/>
          <p:nvPr/>
        </p:nvSpPr>
        <p:spPr>
          <a:xfrm>
            <a:off x="621792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HTML, CSS e JavaScript</a:t>
            </a:r>
            <a:endParaRPr lang="en-US" sz="1400" dirty="0"/>
          </a:p>
        </p:txBody>
      </p:sp>
      <p:sp>
        <p:nvSpPr>
          <p:cNvPr id="17" name="Linha Base de dados"/>
          <p:cNvSpPr/>
          <p:nvPr/>
        </p:nvSpPr>
        <p:spPr>
          <a:xfrm>
            <a:off x="4663440" y="2194560"/>
            <a:ext cx="402336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Camada Base de dados"/>
          <p:cNvSpPr txBox="1"/>
          <p:nvPr/>
        </p:nvSpPr>
        <p:spPr>
          <a:xfrm>
            <a:off x="484632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Base de dados</a:t>
            </a:r>
            <a:endParaRPr lang="en-US" sz="1400" dirty="0"/>
          </a:p>
        </p:txBody>
      </p:sp>
      <p:sp>
        <p:nvSpPr>
          <p:cNvPr id="19" name="Tecnologia Base de dados"/>
          <p:cNvSpPr txBox="1"/>
          <p:nvPr/>
        </p:nvSpPr>
        <p:spPr>
          <a:xfrm>
            <a:off x="6217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MySQL</a:t>
            </a:r>
            <a:endParaRPr lang="en-US" sz="1400" dirty="0"/>
          </a:p>
        </p:txBody>
      </p:sp>
      <p:sp>
        <p:nvSpPr>
          <p:cNvPr id="20" name="Linha Backend"/>
          <p:cNvSpPr/>
          <p:nvPr/>
        </p:nvSpPr>
        <p:spPr>
          <a:xfrm>
            <a:off x="4663440" y="2788920"/>
            <a:ext cx="402336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Camada Backend"/>
          <p:cNvSpPr txBox="1"/>
          <p:nvPr/>
        </p:nvSpPr>
        <p:spPr>
          <a:xfrm>
            <a:off x="484632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22" name="Tecnologia Backend"/>
          <p:cNvSpPr txBox="1"/>
          <p:nvPr/>
        </p:nvSpPr>
        <p:spPr>
          <a:xfrm>
            <a:off x="621792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PHP</a:t>
            </a:r>
            <a:endParaRPr lang="en-US" sz="1400" dirty="0"/>
          </a:p>
        </p:txBody>
      </p:sp>
      <p:sp>
        <p:nvSpPr>
          <p:cNvPr id="23" name="Cartão porquê"/>
          <p:cNvSpPr/>
          <p:nvPr/>
        </p:nvSpPr>
        <p:spPr>
          <a:xfrm>
            <a:off x="4663440" y="342900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Porquê"/>
          <p:cNvSpPr txBox="1"/>
          <p:nvPr/>
        </p:nvSpPr>
        <p:spPr>
          <a:xfrm>
            <a:off x="484632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Porquê: </a:t>
            </a:r>
            <a:r>
              <a:rPr lang="en-US" sz="1400" dirty="0" err="1">
                <a:solidFill>
                  <a:schemeClr val="bg1"/>
                </a:solidFill>
              </a:rPr>
              <a:t>Tecnologias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que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são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familiares</a:t>
            </a:r>
            <a:endParaRPr lang="en-US" sz="1400" dirty="0"/>
          </a:p>
        </p:txBody>
      </p:sp>
      <p:sp>
        <p:nvSpPr>
          <p:cNvPr id="25" name="Frase final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SelfBook: o aluno marca, a escola ganha tempo.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lfBook">
  <a:themeElements>
    <a:clrScheme name="SelfBook">
      <a:dk1>
        <a:srgbClr val="2F3A33"/>
      </a:dk1>
      <a:lt1>
        <a:srgbClr val="FFFFFF"/>
      </a:lt1>
      <a:dk2>
        <a:srgbClr val="3F6B4F"/>
      </a:dk2>
      <a:lt2>
        <a:srgbClr val="FBF4DC"/>
      </a:lt2>
      <a:accent1>
        <a:srgbClr val="3F6B4F"/>
      </a:accent1>
      <a:accent2>
        <a:srgbClr val="A5473F"/>
      </a:accent2>
      <a:accent3>
        <a:srgbClr val="F2E4B1"/>
      </a:accent3>
      <a:accent4>
        <a:srgbClr val="8DB09A"/>
      </a:accent4>
      <a:accent5>
        <a:srgbClr val="D39A92"/>
      </a:accent5>
      <a:accent6>
        <a:srgbClr val="E6D28F"/>
      </a:accent6>
      <a:hlink>
        <a:srgbClr val="A5473F"/>
      </a:hlink>
      <a:folHlink>
        <a:srgbClr val="3F6B4F"/>
      </a:folHlink>
    </a:clrScheme>
    <a:fontScheme name="SelfBo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1092</Words>
  <Application>Microsoft Office PowerPoint</Application>
  <PresentationFormat>Apresentação no Ecrã (16:9)</PresentationFormat>
  <Paragraphs>122</Paragraphs>
  <Slides>8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1" baseType="lpstr">
      <vt:lpstr>Arial</vt:lpstr>
      <vt:lpstr>Calibri</vt:lpstr>
      <vt:lpstr>SelfBook</vt:lpstr>
      <vt:lpstr>SelfBook</vt:lpstr>
      <vt:lpstr>O problema: marcar aulas à mão</vt:lpstr>
      <vt:lpstr>Prova: a voz do dono da escola</vt:lpstr>
      <vt:lpstr>A solução: o aluno marca sozinho</vt:lpstr>
      <vt:lpstr>Objetivos que se podem medir</vt:lpstr>
      <vt:lpstr>Requisitos: o essencial primeiro</vt:lpstr>
      <vt:lpstr>Quem usa, decide e sente</vt:lpstr>
      <vt:lpstr>Equipa e tecnologias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SelfBook – Pitch</dc:title>
  <dc:subject>PptxGenJS Presentation</dc:subject>
  <dc:creator>Karinne e Sarah</dc:creator>
  <cp:lastModifiedBy>Sarah Batista Fontes</cp:lastModifiedBy>
  <cp:revision>2</cp:revision>
  <dcterms:created xsi:type="dcterms:W3CDTF">2026-10-08T12:31:14Z</dcterms:created>
  <dcterms:modified xsi:type="dcterms:W3CDTF">2026-10-08T12:52:51Z</dcterms:modified>
</cp:coreProperties>
</file>